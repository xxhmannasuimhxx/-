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あいさつは代表の言葉で。
日時は確定後に差し替え。120分・休憩1回あり・チャット歓迎であることを伝える。
次のスライドで「今日の約束3つ」を必ず言う。ここを飛ばすと、受講生が全部メモしようとして最後のワークで力尽きます。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1〜2分で。どんな立場で話しているかだけ伝われば十分です。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この3つは言い方を変えないでください。
ここを言わずに始めると「全部メモしなきゃ」になり、最後の受診ラインのワークで力尽きます。
2回しかない講座なので、この宣言が設計の要です。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ゴールと流れを一緒に見せる。ワークが2回あることを予告しておくと、聞き方が変わります。
「知識を増やす会ではなく、決める会です」と一言。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地図は指さすだけ。中身の説明はこのあと全部やります。詳しく話しすぎないこと。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空欄のまま印刷したシートを配り、話しながら受講生が埋めます。手が動くほど持ち帰ります。
【数字は代表が確定】年代の区切りは、言い切れるものだけ入れてください。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最初のワークは30秒で終わるものにする。「書く講座だ」と体に入れるのが目的で、内容は問いません。
ここで書いてもらえると、このあとのワークの手が動きます。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この章は、代表ご自身の経験を1つ入れてください。短くて大丈夫です。わたしが書いた文章より100倍強い場所です。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ここで代表の実体験を1つ。「わたしも◯◯だった」「相談したけど◯◯と言われた」。長く話すより、1つを具体的に。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この一言は変えないでください。ここで心が開かないと、このあとの40分が素通りします。
励まし（「大丈夫ですよ」）で閉じないこと。「説明がつきます」で開いたまま次へ。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◆「点数をつけるものでも、判定するものでもありません」は必ず言う。
判定・診断に見えた瞬間に、講座が医療行為の領域に入ります。チェックの数を数えさせないこと。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この章でいちばん効く一言は「基準は、自分のいつも」。新しく入れる概念は2つだけ（正常の幅／痛みのしくみ）。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答えを求めない問いかけ。30秒ほど間をとってから次へ。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数字は代表が確定。言い切れないものは「幅があります」だけで十分に伝わります。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この講座の背骨です。スライド1枚を丸ごとこの言葉に使ってください。
急がず、ゆっくり読んでから間をとる。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ここで沈黙を5分つくるのを怖がらないでください。オンラインだと埋めたくなりますが、
書く時間を削ると持ち帰りがなくなります。BGMを流すか、残り時間を声でアナウンスすると待ちやすいです。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◆「痛みには理由があります」は変えない。
専門用語は1つまで。言い切れない表現は「〜と言われています」で止める。
「◯◯すれば治ります」は使わない（→「変化を感じる方が多いです」）。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「今日は解決しない」と先に言うと、受講生は安心します。隠すと「結局どうすれば？」で終わります。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この章のゴールは「性格の問題だと思っていた」を解除すること。新概念は2つ（ホルモンの波／血糖の波）。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◆「あれは性格ではありません」は変えない一言。ここが解除の瞬間です。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ホルモン名を並べないこと。図を指さして「この下り坂」と言うほうが伝わります。
高さはイメージである旨を必ず添える（数値を示したものではない）。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押しているときは、この章の詳細を切ってOK。ただし次のワーク（3分）は残すこと。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NG回避：「甘いもの＝悪」の構図をつくらない。禁止・断罪の言い方をしないこと。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◆「良い悪いを判定する紙ではありません」を必ず添える。書かせて終わり、で大丈夫です。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休憩中はこの画面のまま。次の章タイトルが目に入っているのが効きます。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恐怖から入らない。「知らないから怖い。知れば準備ができる」で開く。
「いまケアしないと大変なことに」は禁止（煽り）。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否定しない。「そう思いますよね」で受けてから次のスライドへ。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この一言は変えない。この章は全部「なるほど」側で話す。
読んだあとに残るのが「なるほど」なら問題提起、「怖い」なら煽りです。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【数字は代表が確定】年代・閉経年齢は、言い切れるものだけ。
断定を避ける表現（〜と言われています）で統一。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順番が命です。幅 → 症状 → 相談先。
症状リストを先に出すと全員が「わたしもだ」になります（恐怖）。幅を先に見せると「自分はどのあたりかな」になります（準備）。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最後の一行は代表の言葉で。
この講座の差別化が、この1枚に出ます。母と娘の体の変化が同じ紙に並ぶ体験は、他の栄養講座にはありません。時間をかけてよい場所です。
家族欄は空欄にしてあります（お子さんがいない方が疎外されないため）。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 判断は医師と、で統一。
ピル・ホルモン補充の質問が出たら「選択肢としてあります。合うかどうかはお医者さんと相談して決めるものです」で止める。是非は語らない。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絶対に削らない10分。ここを削ると「聞いて終わり」の講座になります。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◆「迷う理由は、自分の中に線がないから」は変えない。ここが次のワークの動機になります。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 例の「◯」は空欄のまま。代表が数字を言うと、それが正解になってしまいます。
「わたしはこう決めています」とご自身の例として話すのはOK。受講生への指示にはしないこと。
◆「あなたが決めた線が、あなたの正解です」は変えない一言。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締めの言葉は代表の言葉で。入れてほしい要素は3つ：持ち帰りは2つだけ／書けない日があっていい／次回はわが家の形に変える。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 宿題に「必ず」「毎日きちんと」をつけない。迷う理由の1位が「時間が取れるか」です。
◆「空けたままで大丈夫」は毎回言う。これが継続率に直結します。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次回日程を差し替え。記録シートを持参（開いておく）ことを伝える。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答えきれない質問は、後日まとめて共有する旨を伝えて終了。
当日中にアーカイブURLと配布シートPDFを送付（ハル）。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417320"/>
            <a:ext cx="5394960" cy="5394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-274320"/>
            <a:ext cx="3108960" cy="310896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813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全2回オンライン講座 ／ 第1回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女性のための栄養学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986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 月経編・更年期編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　からだの地図を持つ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初経から、閉経まで。ひとつながりで見てみます。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3555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1772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◯月◯日（◯）◯◯:◯◯ 〜（120分）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スマイルおうち栄養士／管理栄養士　髙落 まどか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4937760" cy="3931920"/>
          </a:xfrm>
          <a:prstGeom prst="roundRect">
            <a:avLst>
              <a:gd name="adj" fmla="val 209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スマイルおうち栄養士／管理栄養士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髙落 まどか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「わが家の正解」を、自分で決められるように。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おうちごはんの整え方をお伝えしています。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7880" y="1536192"/>
            <a:ext cx="5650992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16824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これまでのこと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84832"/>
            <a:ext cx="501091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355080" y="2084832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経歴・資格・お仕事のことなど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97880" y="2907792"/>
            <a:ext cx="5650992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3054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この講座をひらく理由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456432"/>
            <a:ext cx="501091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355080" y="3456432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なぜ、女性の体と栄養なのか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97880" y="4279392"/>
            <a:ext cx="5650992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44256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ふだんの発信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4828032"/>
            <a:ext cx="501091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355080" y="4828032"/>
            <a:ext cx="4736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SNS・メルマガ・講座のご案内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右側は当日のご紹介内容にあわせて書き換えてください。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PROMISE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はじめに、今日の約束を3つ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92424" cy="3200400"/>
          </a:xfrm>
          <a:prstGeom prst="roundRect">
            <a:avLst>
              <a:gd name="adj" fmla="val 2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621792" cy="62179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今日は、全部はお話ししません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お配りした冊子に入っています。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あとで読んでいただければ大丈夫です。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600200"/>
            <a:ext cx="3392424" cy="3200400"/>
          </a:xfrm>
          <a:prstGeom prst="roundRect">
            <a:avLst>
              <a:gd name="adj" fmla="val 2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1920240"/>
            <a:ext cx="621792" cy="6217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正解を覚える時間ではありません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18304" y="361188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「わが家はこうする」を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決めて帰る時間です。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00200"/>
            <a:ext cx="3392424" cy="3200400"/>
          </a:xfrm>
          <a:prstGeom prst="roundRect">
            <a:avLst>
              <a:gd name="adj" fmla="val 2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1920240"/>
            <a:ext cx="621792" cy="621792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920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76488" y="2697480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書けなくても大丈夫です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361188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書けない日があっていい前提で、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全部つくってあります。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1206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この3つが、この講座の設計そのものです。安心して、手ぶらで聞いてください。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GOAL &amp;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この120分で持ち帰っていただくもの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27632" y="16824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記録する3項目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27632" y="2103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自分の「いつも」を測る道具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27632" y="29169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わたしの受診ライン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27632" y="3337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迷わないための、自分の線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029200" cy="1691640"/>
          </a:xfrm>
          <a:prstGeom prst="roundRect">
            <a:avLst>
              <a:gd name="adj" fmla="val 486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24128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どちらも「知識」ではなく「決めごと」です。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" y="4754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今日は、不調を解決する日ではありません。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自分を測る道具を持って帰る日です。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1536192"/>
            <a:ext cx="5559552" cy="4224528"/>
          </a:xfrm>
          <a:prstGeom prst="roundRect">
            <a:avLst>
              <a:gd name="adj" fmla="val 1948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27648" y="2313432"/>
            <a:ext cx="292608" cy="29260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240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からだのリズム地図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69880" y="224028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27648" y="2788920"/>
            <a:ext cx="292608" cy="29260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715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「わたしだけかな」と思っていたこと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69880" y="271576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27648" y="3264408"/>
            <a:ext cx="292608" cy="29260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1912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「正常」には幅がある／痛みのしくみ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469880" y="319125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30分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27648" y="3739896"/>
            <a:ext cx="292608" cy="29260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373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36667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気分の波の正体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69880" y="366674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25分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4315968"/>
            <a:ext cx="109728" cy="109728"/>
          </a:xfrm>
          <a:prstGeom prst="ellipse">
            <a:avLst/>
          </a:prstGeom>
          <a:solidFill>
            <a:srgbClr val="AAB8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1422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469880" y="414223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27648" y="4690872"/>
            <a:ext cx="292608" cy="29260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46177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ゆらぎ期は、怖くない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46988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25分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27648" y="5166360"/>
            <a:ext cx="292608" cy="29260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5166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66560" y="50932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受診ラインを、自分で決める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69880" y="509320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次回は「わが家の形に変える」時間です。今日の記録が、次回の材料になります。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691640"/>
            <a:ext cx="2560320" cy="256032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6840" y="1691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0 ／ 10分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からだのリズム地図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44622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初経から閉経まで、ひとつながりで見る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49194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800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今日と次回、毎回この1枚から始めます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からだのリズム地図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42032" cy="658368"/>
          </a:xfrm>
          <a:prstGeom prst="roundRect">
            <a:avLst>
              <a:gd name="adj" fmla="val 12500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【年代は代表が確定】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542032" cy="658368"/>
          </a:xfrm>
          <a:prstGeom prst="roundRect">
            <a:avLst>
              <a:gd name="adj" fmla="val 125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55448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9000" y="19019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【年代は代表が確定】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42032" cy="658368"/>
          </a:xfrm>
          <a:prstGeom prst="roundRect">
            <a:avLst>
              <a:gd name="adj" fmla="val 12500"/>
            </a:avLst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55448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ゆらぎ期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7920" y="19019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【年代は代表が確定】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06840" y="1554480"/>
            <a:ext cx="2542032" cy="658368"/>
          </a:xfrm>
          <a:prstGeom prst="roundRect">
            <a:avLst>
              <a:gd name="adj" fmla="val 12500"/>
            </a:avLst>
          </a:prstGeom>
          <a:solidFill>
            <a:srgbClr val="355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55448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その先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06840" y="19019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【年代は代表が確定】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からだに起きること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624328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429000" y="2624328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17920" y="2624328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006840" y="2624328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40080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よくあるゆれ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685032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429000" y="3685032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217920" y="3685032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06840" y="3685032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4008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この時期の土台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745736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429000" y="4745736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4745736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006840" y="4745736"/>
            <a:ext cx="2542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40080" y="5760720"/>
            <a:ext cx="10911535" cy="0"/>
          </a:xfrm>
          <a:prstGeom prst="line">
            <a:avLst/>
          </a:prstGeom>
          <a:noFill/>
          <a:ln w="25400">
            <a:solidFill>
              <a:srgbClr val="D9E2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いま、わたしはこのあたり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マスは空欄のまま。話しながら、お手元のシートに書き込んでいただきます。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8899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いま、自分がいるあたりに ↑ を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814255" y="7315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4255" y="731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11535" cy="3017520"/>
          </a:xfrm>
          <a:prstGeom prst="roundRect">
            <a:avLst>
              <a:gd name="adj" fmla="val 2727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103120"/>
            <a:ext cx="9448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お手元の「からだのリズム地図」に、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矢印をひとつ書き入れてください。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356616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正確でなくて大丈夫です。だいたいで構いません。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5029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この地図は、次回も使います。捨てないでください。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691640"/>
            <a:ext cx="2560320" cy="256032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6840" y="1691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1 ／ 15分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「わたしだけかな」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と思っていたこと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44622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よく伺うお声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49194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800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いま気になっていることに○をつける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EMPATHY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こんなこと、ありませんか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863840" cy="804672"/>
          </a:xfrm>
          <a:prstGeom prst="roundRect">
            <a:avLst>
              <a:gd name="adj" fmla="val 102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600200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つらいのに、検査では何も出ない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7863840" cy="804672"/>
          </a:xfrm>
          <a:prstGeom prst="roundRect">
            <a:avLst>
              <a:gd name="adj" fmla="val 102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63347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08760" y="2587752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「みんな同じだよ」と言われて終わってしまった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7863840" cy="804672"/>
          </a:xfrm>
          <a:prstGeom prst="roundRect">
            <a:avLst>
              <a:gd name="adj" fmla="val 102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62102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08760" y="3575304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毎月のことだから、と言わずにきた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7863840" cy="804672"/>
          </a:xfrm>
          <a:prstGeom prst="roundRect">
            <a:avLst>
              <a:gd name="adj" fmla="val 102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6085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4562856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自分の体のことを、後回しにしてきた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32520" y="1600200"/>
            <a:ext cx="2816352" cy="3849624"/>
          </a:xfrm>
          <a:prstGeom prst="roundRect">
            <a:avLst>
              <a:gd name="adj" fmla="val 292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とても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多いです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52560" y="32918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同じことを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感じてきた方に、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たくさんお会い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してきました。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201168" cy="3200400"/>
          </a:xfrm>
          <a:prstGeom prst="rect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0116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がまんが足りないわけでも、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気持ちの問題でもありません。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○がついたことの多くは、このあと出てくる「からだのしくみ」で説明がつきます。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8899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いま、気になっていることに ○ を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814255" y="7315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4255" y="731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392424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81965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4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64592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疲れが抜けない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1645920"/>
            <a:ext cx="3392424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4296" y="181965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4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164592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冷えが気になる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6448" y="1645920"/>
            <a:ext cx="3392424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81965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4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42248" y="164592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眠りが浅い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3392424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259689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4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242316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頭が重い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98264" y="2423160"/>
            <a:ext cx="3392424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259689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4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242316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気分の波がある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156448" y="2423160"/>
            <a:ext cx="3392424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59689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4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42248" y="242316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肌や髪の変化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3200400"/>
            <a:ext cx="3392424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337413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4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320040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おなかが痛い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398264" y="3200400"/>
            <a:ext cx="3392424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4296" y="337413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4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320040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量がいつもと違う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156448" y="3200400"/>
            <a:ext cx="3392424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337413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4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42248" y="320040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周期が気になる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" y="4069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いくつでも、ゼロでもかまいません。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461772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97280" y="461772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この紙は、点数をつけるものでも、何かを判定するものでもありません。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" y="55321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「いまの自分は、ここが気になっている」——それを自分で見えるようにするための紙です。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691640"/>
            <a:ext cx="2560320" cy="256032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6840" y="1691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2 ／ 30分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「正常」には幅がある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44622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「普通の生理」ってなんだろう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49194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800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痛みが起きるしくみ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53766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5257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ワーク：わたしの周期を書く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「普通の生理」って、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どんなものだと思いますか？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チャットに書いていただいても、思い浮かべるだけでも大丈夫です。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実は、かなり幅があります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645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周期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1901952"/>
            <a:ext cx="4206240" cy="493776"/>
          </a:xfrm>
          <a:prstGeom prst="roundRect">
            <a:avLst>
              <a:gd name="adj" fmla="val 50000"/>
            </a:avLst>
          </a:prstGeom>
          <a:solidFill>
            <a:srgbClr val="F8E7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90195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【数字は代表が確定】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86600" y="16459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日ごと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786384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2834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続く日数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743200" y="3090672"/>
            <a:ext cx="4206240" cy="493776"/>
          </a:xfrm>
          <a:prstGeom prst="roundRect">
            <a:avLst>
              <a:gd name="adj" fmla="val 50000"/>
            </a:avLst>
          </a:prstGeom>
          <a:solidFill>
            <a:srgbClr val="F8E7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09067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【数字は代表が確定】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28346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日くらい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863840" cy="1005840"/>
          </a:xfrm>
          <a:prstGeom prst="roundRect">
            <a:avLst>
              <a:gd name="adj" fmla="val 81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4023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43200" y="4279392"/>
            <a:ext cx="4206240" cy="493776"/>
          </a:xfrm>
          <a:prstGeom prst="roundRect">
            <a:avLst>
              <a:gd name="adj" fmla="val 50000"/>
            </a:avLst>
          </a:prstGeom>
          <a:solidFill>
            <a:srgbClr val="F8E7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4279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【数字は代表が確定】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40233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32520" y="1645920"/>
            <a:ext cx="2816352" cy="3566160"/>
          </a:xfrm>
          <a:prstGeom prst="roundRect">
            <a:avLst>
              <a:gd name="adj" fmla="val 292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52560" y="21031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ぴったり</a:t>
            </a:r>
            <a:endParaRPr lang="en-US" sz="17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同じ人のほうが</a:t>
            </a:r>
            <a:endParaRPr lang="en-US" sz="17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少ないくらい</a:t>
            </a:r>
            <a:endParaRPr lang="en-US" sz="17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52560" y="4114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だから、人と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比べる基準には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なりません。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※【数字は代表が確定】管理栄養士として言い切れる数字だけを入れてください。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201168" cy="3200400"/>
          </a:xfrm>
          <a:prstGeom prst="rect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0116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基準は、人と比べた平均ではありません。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「自分のいつも」です。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いつもの自分と比べて、変わったかどうか。ここを見られるようになると、情報に振り回されなくなります。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8899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わたしの周期を書いてみる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814255" y="7315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4255" y="731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だいたいの周期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1691640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160520" y="1691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　　　］日ごと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続く日数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0" y="2606040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160520" y="26060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　　　］日くらい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いちばんつらい日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23360" y="3520440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160520" y="35204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　　　　　　　　　］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いつもと違うと感じること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23360" y="4434840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732520" y="1691640"/>
            <a:ext cx="2816352" cy="3538728"/>
          </a:xfrm>
          <a:prstGeom prst="roundRect">
            <a:avLst>
              <a:gd name="adj" fmla="val 2922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0684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わからない欄は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空けたままで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大丈夫です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840" y="35661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覚えている範囲で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構いません。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このあとの記録で、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少しずつわかって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いきます。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911535" cy="54864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548640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あと3分　／　書く時間です。わたしは静かにしています。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痛みが起きるしくみ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92424" cy="260604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38528"/>
            <a:ext cx="566928" cy="56692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9385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内膜がはがれる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2752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毎月、用意された内膜が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役目を終えます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50792" y="1645920"/>
            <a:ext cx="3291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8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98264" y="1645920"/>
            <a:ext cx="3392424" cy="260604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1938528"/>
            <a:ext cx="566928" cy="56692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04104" y="19385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子宮が収縮する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18304" y="2697480"/>
            <a:ext cx="2752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はがれたものを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外に押し出す動きです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08976" y="1645920"/>
            <a:ext cx="3291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8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56448" y="1645920"/>
            <a:ext cx="3392424" cy="260604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6488" y="1938528"/>
            <a:ext cx="566928" cy="56692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2288" y="19385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痛みとして感じる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76488" y="2697480"/>
            <a:ext cx="2752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収縮に関わる物質の量で、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感じ方が変わると言われています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457200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痛みには、ちゃんと理由があります。気のせいでも、心の弱さでもありません。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55778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そして、感じ方には個人差があります。強く出る方は、それだけの理由が体の中にあります。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188720"/>
            <a:ext cx="4206240" cy="42062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では、どうすれば軽くなるのか。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それは次回、まるごと2時間かけてやります。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今日は、理由を知るところまで。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理由がわかっていないと、対策を選べないからです。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691640"/>
            <a:ext cx="2560320" cy="256032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6840" y="1691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3 ／ 25分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気分の波の正体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44622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からだの中で起きている波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49194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800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食べ方でできる、もうひとつの波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53766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5257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ワーク：直近3日の朝ごはん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EMPATHY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生理前になると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28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家族に強く当たってしまう。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あとで自己嫌悪になる。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毎月、同じことを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繰り返してしまう。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92240" y="1645920"/>
            <a:ext cx="5056632" cy="3108960"/>
          </a:xfrm>
          <a:prstGeom prst="roundRect">
            <a:avLst>
              <a:gd name="adj" fmla="val 264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20574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あれは、性格では</a:t>
            </a:r>
            <a:endParaRPr lang="en-US" sz="2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ありません。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903720" y="32918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体の中で起きている、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波です。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507492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波には、2つあります。ひとつは「からだの波」、もうひとつは「食べ方でできる波」。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WAVE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からだの波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1993392" cy="822960"/>
          </a:xfrm>
          <a:prstGeom prst="roundRect">
            <a:avLst>
              <a:gd name="adj" fmla="val 8889"/>
            </a:avLst>
          </a:prstGeom>
          <a:solidFill>
            <a:srgbClr val="1F4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4251960"/>
            <a:ext cx="2542032" cy="502920"/>
          </a:xfrm>
          <a:prstGeom prst="roundRect">
            <a:avLst>
              <a:gd name="adj" fmla="val 1636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519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03320" y="2377440"/>
            <a:ext cx="1993392" cy="1737360"/>
          </a:xfrm>
          <a:prstGeom prst="roundRect">
            <a:avLst>
              <a:gd name="adj" fmla="val 4211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4251960"/>
            <a:ext cx="2542032" cy="502920"/>
          </a:xfrm>
          <a:prstGeom prst="roundRect">
            <a:avLst>
              <a:gd name="adj" fmla="val 1636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42519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4251960"/>
            <a:ext cx="2542032" cy="502920"/>
          </a:xfrm>
          <a:prstGeom prst="roundRect">
            <a:avLst>
              <a:gd name="adj" fmla="val 1636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2519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排卵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81160" y="2926080"/>
            <a:ext cx="1993392" cy="1188720"/>
          </a:xfrm>
          <a:prstGeom prst="roundRect">
            <a:avLst>
              <a:gd name="adj" fmla="val 6154"/>
            </a:avLst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4251960"/>
            <a:ext cx="2542032" cy="502920"/>
          </a:xfrm>
          <a:prstGeom prst="roundRect">
            <a:avLst>
              <a:gd name="adj" fmla="val 1636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42519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生理前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06840" y="23957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 この下り坂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高さはイメージです。実際の量を表したものではありません。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525780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排卵のあとの「下り坂」で、気分や体調に影響が出やすいと言われています。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WAVE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食べ方でできる波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92224"/>
            <a:ext cx="530352" cy="530352"/>
          </a:xfrm>
          <a:prstGeom prst="ellipse">
            <a:avLst/>
          </a:prstGeom>
          <a:solidFill>
            <a:srgbClr val="5C6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922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空腹が続く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朝を抜く／時間が空く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786384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779776"/>
            <a:ext cx="530352" cy="53035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797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6334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甘いものを食べる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6334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手軽に元気が出る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21024"/>
            <a:ext cx="7863840" cy="822960"/>
          </a:xfrm>
          <a:prstGeom prst="roundRect">
            <a:avLst>
              <a:gd name="adj" fmla="val 10000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767328"/>
            <a:ext cx="530352" cy="53035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67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62102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ぐっと上がる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62102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08576"/>
            <a:ext cx="7863840" cy="822960"/>
          </a:xfrm>
          <a:prstGeom prst="roundRect">
            <a:avLst>
              <a:gd name="adj" fmla="val 10000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754880"/>
            <a:ext cx="530352" cy="53035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54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460857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急に下がる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6085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イライラ・だるさが出やすい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732520" y="1645920"/>
            <a:ext cx="2816352" cy="3822192"/>
          </a:xfrm>
          <a:prstGeom prst="roundRect">
            <a:avLst>
              <a:gd name="adj" fmla="val 292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52560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下がるところ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052560" y="32918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気分の波として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感じやすい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タイミングです。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「性格」ではなく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「タイミング」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の話です。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201168" cy="3200400"/>
          </a:xfrm>
          <a:prstGeom prst="rect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0116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「甘いものをやめましょう」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とは言いません。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減らすより先に、足すほうが続きます。何を足すかは、次回、わが家の形で決めます。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8899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直近3日の朝ごはんを書いてみる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814255" y="7315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4255" y="731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03120" y="1737360"/>
            <a:ext cx="66751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2日前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03120" y="2743200"/>
            <a:ext cx="66751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3日前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03120" y="3749040"/>
            <a:ext cx="66751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732520" y="1737360"/>
            <a:ext cx="2816352" cy="2926080"/>
          </a:xfrm>
          <a:prstGeom prst="roundRect">
            <a:avLst>
              <a:gd name="adj" fmla="val 2922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03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食べていない日は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「なし」で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大丈夫です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06840" y="3474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これも、良い悪いを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判定する紙では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ありません。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93776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この波をゆるやかにする「朝の一手」を、次回、わが家の形で決めます。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73736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BREAK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　5分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お手洗い・お飲みものをどうぞ。カメラはオフにしていただいて大丈夫です。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663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このあと　—　ゆらぎ期は、怖くない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691640"/>
            <a:ext cx="2560320" cy="256032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6840" y="1691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4 ／ 25分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ゆらぎ期は、怖くない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44622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何が起きているのか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49194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800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出方には、大きな個人差があります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53766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5257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ワーク：ゆらぎ期の年表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「更年期」と聞いて、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どんなイメージがありますか？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572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あまり良いイメージがない、という方が多いかもしれません。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201168" cy="3200400"/>
          </a:xfrm>
          <a:prstGeom prst="rect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0116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知らないから、怖い。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知っていれば、準備ができます。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今日はその準備のための地図をお渡しします。対策は、次回。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からだで起きていること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18288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74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閉経の前後に、女性ホルモンが減っていく時期があります。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減りきったあとではなく、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減っていく「途中」の、ゆらいでいる時期に、体調の変化が出やすいと言われています。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11880" y="41148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ゆらぎ期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45720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355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756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 ここが「ゆらいでいる」時期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32520" y="1645920"/>
            <a:ext cx="2816352" cy="3886200"/>
          </a:xfrm>
          <a:prstGeom prst="roundRect">
            <a:avLst>
              <a:gd name="adj" fmla="val 292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年代の目安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2377440"/>
            <a:ext cx="22860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189720" y="2377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【数字は代表が確定】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52560" y="32918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閉経の年齢にも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幅があります。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早い方も、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ゆっくりな方も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います。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図は変化のイメージです。実際の量を表したものではありません。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いちばん大事なことをお伝えします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572768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出方には、とても大きな個人差があります。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392424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43200"/>
            <a:ext cx="3392424" cy="91440"/>
          </a:xfrm>
          <a:prstGeom prst="rect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017520"/>
            <a:ext cx="2752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ほとんど気にならない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そのまま過ぎていく方も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いらっしゃいます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8264" y="2743200"/>
            <a:ext cx="3392424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2743200"/>
            <a:ext cx="3392424" cy="91440"/>
          </a:xfrm>
          <a:prstGeom prst="rect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3017520"/>
            <a:ext cx="2752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少し感じる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18304" y="384048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「これかな」と思いながら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過ごす方もいます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2743200"/>
            <a:ext cx="3392424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6448" y="2743200"/>
            <a:ext cx="3392424" cy="91440"/>
          </a:xfrm>
          <a:prstGeom prst="rect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3017520"/>
            <a:ext cx="2752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日常生活に支障が出る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76488" y="384048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この場合に、医療の場で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「更年期障害」と呼ばれます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どれが正しい、という話ではありません。自分がどのあたりかを知っておくだけで、慌てずにすみます。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8899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ゆらぎ期の年表に、自分と家族を置く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814255" y="7315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4255" y="731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169164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6916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10代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05072" y="169164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16916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20代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32704" y="169164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32704" y="16916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30代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60336" y="169164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0336" y="16916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40代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87968" y="169164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87968" y="16916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50代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515600" y="169164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0" y="16916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60代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228600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わたし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377440" y="2286000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005072" y="2286000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632704" y="2286000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260336" y="2286000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887968" y="2286000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515600" y="2286000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40080" y="299923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家族（　　）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377440" y="2999232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005072" y="2999232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632704" y="2999232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260336" y="2999232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887968" y="2999232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515600" y="2999232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40080" y="371246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家族（　　）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2377440" y="3712464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005072" y="3712464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632704" y="3712464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260336" y="3712464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887968" y="3712464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0515600" y="3712464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40080" y="442569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家族（　　）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2377440" y="4425696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005072" y="4425696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632704" y="4425696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7260336" y="4425696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887968" y="4425696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0515600" y="4425696"/>
            <a:ext cx="15544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40080" y="525780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97280" y="52578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同じ紙に、娘さんの初経と、ご自身のゆらぎ期が並ぶ方もいらっしゃると思います。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相談できる場所を、知っておく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92424" cy="24688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38528"/>
            <a:ext cx="566928" cy="56692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9385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かかりつけ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2752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まずは、いつも行くところで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相談してみる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645920"/>
            <a:ext cx="3392424" cy="24688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1938528"/>
            <a:ext cx="566928" cy="56692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04104" y="19385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婦人科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18304" y="2697480"/>
            <a:ext cx="2752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women's health を扱う科。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探し方は【内容は代表が確定】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45920"/>
            <a:ext cx="3392424" cy="24688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1938528"/>
            <a:ext cx="566928" cy="56692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62288" y="193852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健康診断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76488" y="2697480"/>
            <a:ext cx="2752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見てもらえること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【内容は代表が確定】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443484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判断は、お医者さんと一緒にするものです。今日は、相談する先を知っておくところまで。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お薬やホルモンのお話は「選択肢としてあります」まで。合うかどうかは、お医者さんと相談して決めるものです。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691640"/>
            <a:ext cx="2560320" cy="256032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6840" y="1691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CHAPTER 5 ／ 10分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受診ラインを、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自分で決める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446227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この10分が、今日の持ち帰りです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「これくらいで行っていいのかな」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459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迷っているうちに、何年も過ぎてしまう方が、とても多いです。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863840" cy="137160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2461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迷う理由は、自分の中に「線」がないからです。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7863840" cy="1097280"/>
          </a:xfrm>
          <a:prstGeom prst="roundRect">
            <a:avLst>
              <a:gd name="adj" fmla="val 7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48463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だから今日、その線をご自分で決めてしまいます。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32520" y="1645920"/>
            <a:ext cx="2816352" cy="4297680"/>
          </a:xfrm>
          <a:prstGeom prst="roundRect">
            <a:avLst>
              <a:gd name="adj" fmla="val 29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525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決めておくと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52560" y="242316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・迷う時間が減る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・我慢しすぎない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・家族にも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伝えられる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・「そのとき」に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動ける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8899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わたしは、こうなったら相談に行きます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814255" y="7315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4255" y="731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78638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78638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（書き方の例）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361688"/>
            <a:ext cx="118872" cy="118872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「◯ヶ月続いたら、行く」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864608"/>
            <a:ext cx="118872" cy="118872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709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「◯日寝込んだら、行く」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5367528"/>
            <a:ext cx="118872" cy="118872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12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「いつもの対処が効かなくなったら、行く」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32520" y="1737360"/>
            <a:ext cx="2816352" cy="3977640"/>
          </a:xfrm>
          <a:prstGeom prst="roundRect">
            <a:avLst>
              <a:gd name="adj" fmla="val 2922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正解は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ありません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06840" y="3291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あなたが決めた線が、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あなたの正解です。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決めた線を、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ご家族にひとりだけ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伝えておくと、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もっと効きます。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TAKE HOME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今日、持って帰っていただくもの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6088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記録する3項目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自分の「いつも」を測る道具。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続けるほど精度が上がります。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81928" y="1645920"/>
            <a:ext cx="5276088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7688" y="1965960"/>
            <a:ext cx="640080" cy="640080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70648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わたしの受診ライン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47688" y="2834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迷わないための、自分の線。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ご家族にひとりだけ伝えてみてください。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429768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3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この2つは「知識」ではありません。あなたが決めた「決めごと」です。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3035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530352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次回は、これを「わが家の形」に変える時間です。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次回まで、1日3分だけ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2103120"/>
          </a:xfrm>
          <a:prstGeom prst="roundRect">
            <a:avLst>
              <a:gd name="adj" fmla="val 391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745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決めた3項目を、毎日書いてみてください。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○△× でも、数字でも、ひとことでも。書き方は自由です。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スマホのメモ帳でも大丈夫です（テンプレをお送りします）。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93192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B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書けない日は、空けたままで大丈夫です。それも記録です。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0911535" cy="1005840"/>
          </a:xfrm>
          <a:prstGeom prst="roundRect">
            <a:avLst>
              <a:gd name="adj" fmla="val 818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5074920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その紙が、次回のワークの材料になります。開いた状態でお持ちください。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097280"/>
            <a:ext cx="4206240" cy="42062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737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／ 第2回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わが家の形に変える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3355848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2004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土台は4つしかない（たんぱく質・脂質・主食・光と体温）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831336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6758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血をつくる（鉄と、吸収のさせ方）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4306824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15137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一生ものの土台（骨と筋肉／子ども時代の食）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4782312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62686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娘に、何をどう伝えるか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5257800"/>
            <a:ext cx="118872" cy="118872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10235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わが家の設計シートを完成させる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760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◯月◯日（◯）◯◯:◯◯ 〜（120分）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737360"/>
            <a:ext cx="5394960" cy="5394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880360"/>
            <a:ext cx="3108960" cy="310896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ご質問をどうぞ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チャットでも、お声でも大丈夫です。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「うちの場合はどうしたら」が、いちばん役に立ちます。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676656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4348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今日持ち帰るのは、3項目と、1本の線だけ。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それだけで、十分です。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ご参加ありがとうございました。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女性のための栄養学 〜月経編・更年期編〜 第1回</dc:title>
  <dc:subject>からだの地図を持つ</dc:subject>
  <dc:creator>髙落まどか</dc:creator>
  <cp:lastModifiedBy>髙落まどか</cp:lastModifiedBy>
  <cp:revision>1</cp:revision>
  <dcterms:created xsi:type="dcterms:W3CDTF">2026-10-09T05:50:02Z</dcterms:created>
  <dcterms:modified xsi:type="dcterms:W3CDTF">2026-10-09T05:50:02Z</dcterms:modified>
</cp:coreProperties>
</file>
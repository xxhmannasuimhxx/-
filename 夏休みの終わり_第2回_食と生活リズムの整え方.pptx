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菓子パン・ジュースだけ</c:v>
                </c:pt>
              </c:strCache>
            </c:strRef>
          </c:tx>
          <c:spPr>
            <a:solidFill>
              <a:srgbClr val="D9822B"/>
            </a:solidFill>
            <a:ln w="50800" cap="flat">
              <a:solidFill>
                <a:srgbClr val="D982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822B"/>
              </a:solidFill>
              <a:ln w="9525" cap="flat">
                <a:solidFill>
                  <a:srgbClr val="D982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朝食前</c:v>
                  </c:pt>
                  <c:pt idx="1">
                    <c:v>食べた直後</c:v>
                  </c:pt>
                  <c:pt idx="2">
                    <c:v>1〜2時間後</c:v>
                  </c:pt>
                  <c:pt idx="3">
                    <c:v>午前なかば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</c:v>
                </c:pt>
                <c:pt idx="1">
                  <c:v>168</c:v>
                </c:pt>
                <c:pt idx="2">
                  <c:v>74</c:v>
                </c:pt>
                <c:pt idx="3">
                  <c:v>82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ごはん＋卵＋みそ汁</c:v>
                </c:pt>
              </c:strCache>
            </c:strRef>
          </c:tx>
          <c:spPr>
            <a:solidFill>
              <a:srgbClr val="3F8A72"/>
            </a:solidFill>
            <a:ln w="50800" cap="flat">
              <a:solidFill>
                <a:srgbClr val="3F8A7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F8A72"/>
              </a:solidFill>
              <a:ln w="9525" cap="flat">
                <a:solidFill>
                  <a:srgbClr val="3F8A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朝食前</c:v>
                  </c:pt>
                  <c:pt idx="1">
                    <c:v>食べた直後</c:v>
                  </c:pt>
                  <c:pt idx="2">
                    <c:v>1〜2時間後</c:v>
                  </c:pt>
                  <c:pt idx="3">
                    <c:v>午前なかば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95</c:v>
                </c:pt>
                <c:pt idx="1">
                  <c:v>126</c:v>
                </c:pt>
                <c:pt idx="2">
                  <c:v>112</c:v>
                </c:pt>
                <c:pt idx="3">
                  <c:v>102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E80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0"/>
          <c:min val="60"/>
        </c:scaling>
        <c:delete val="1"/>
        <c:axPos val="l"/>
        <c:majorGridlines>
          <c:spPr>
            <a:ln w="12700" cap="flat">
              <a:solidFill>
                <a:srgbClr val="EDF2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E80"/>
                </a:solidFill>
                <a:latin typeface="Meiry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3A5F"/>
              </a:solidFill>
              <a:latin typeface="Meiryo"/>
              <a:cs typeface="Meiry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開始のあいさつ。今日は第2回。前回は「食事の考え方」、今回はそれを2学期に向けた一日の流れに落とし込みます。
21:30スタート、23:00終了。途中でチャットに書き込んでいただいてOKであることを伝える。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自己紹介は1〜2分で。初参加の方に向けて、どんな立場で話しているかだけ伝われば十分。
右のカードは当日の内容に差し替えて使う。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ゴールと流れを一緒に見せる。ワークが後半にあることをここで予告しておくと、聞き方が変わる。
「知識を増やす会ではなく、決める会です」と一言添える。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前回の内容を3点だけ短く復習。3分程度で。
「12種類の食材と2種類のたんぱく質」は前回のキーワードなので、覚えている方に手を挙げてもらうと場が温まる。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共感パート。チャットで「いくつ当てはまりましたか？」と聞くと参加感が出る。
大人側にもチェックがあることが今回のポイント。親が疲れていると、子どもの生活リズムは戻せない。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「秋バテ」という言葉を知らない方が多いので、ここで丁寧に。
2学期に崩れるのは9月の問題ではなく、8月にたまった疲れが原因、という因果をつなげる。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3つのうちどれが当てはまりそうか、チャットで聞いてもいい。
次のスライドで「胃腸疲れ」を掘り下げるので、2番につなげる言い方をしておく。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腸脳相関の話。断定しすぎないこと。
「腸のセロトニンがそのまま脳に届く」という言い方は正確ではないので避ける。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「気合が足りない」ではなく、自律神経の切り替えの問題として説明する。
ここが朝・昼・夜の3章につながる導入になる。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今日の中心メッセージ。ここは時間をかけてゆっくり話す。
「夜は結果、朝が原因」という言い方を繰り返す。この後の3章すべてがここに戻る。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ここから15分。朝パート。「一日は朝で決まる」を宣言してから入る。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3ステップの順番を強調。特に「朝ごはんから始めない」こと。
起床時刻が決まっていないのに朝食を頑張ると、必ず食卓でもめる。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実際に手元のカレンダーに書き込んでもらう。
土日をそろえるのが一番の山場。ここで崩れると月曜が元に戻る。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「朝ごはん＝きちんとした食卓」の思い込みを外す。
レベル1でも意味がある（内臓の時計が動く）ことを伝えると、親の気持ちが軽くなる。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前回資料ではビタミンB1と書かれていたが、トリプトファンからセロトニンをつくるのを助けるのはビタミンB6。
「覚えなくていいので、バナナ＋牛乳、ごはん＋納豆だけ覚えて帰ってください」と締める。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いちばん実践しやすいスライド。ここは具体名をどんどん出す。
「調理しない」ことがポイント。買っておけば、朝は手を動かすだけで済む。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ここから13分。昼パート。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医療的な診断ではないことを必ず明言する。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図はイメージであることを口頭でも言う。キーワードは「単品にしない」。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「その不調、食事のサインかも」の視点③を、具体的な行動に落とすスライド。
汗をたくさんかいた日や食欲が落ちているときは、経口補水液も選択肢になる、と口頭で補足する。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カフェインは子どもにも当てはまることを強調。エナジードリンクは中高生で要注意。
糖質は「減らす」より「単品にしない」で伝える。血糖の波のスライドとつながる。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第1回の「足し算」の考え方がここに戻ってくる。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重い話が続いたあとの、軽くなるスライド。
「ながら食べ」は夏休みに増えがちなので、そこに触れると刺さる。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「食べない」に悩む保護者は多い。受診の目安を具体的に示すことで、抱え込みを防ぐ。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ここから13分。夜パート。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夜と朝がつながっていることを示すスライド。「朝食べない」の原因が夕食にあることは多い。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「なぜ90分前か」を体温の話で説明すると納得感が出る。
熱いお湯が好きな家庭は多いので、38〜39度という具体的な数字を出す。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大人の6〜7時間半をそのまま子どもに当てはめている家庭が多い。ここを分けて伝えるのが今回の追加ポイント。
逆算表を見せると「うちは無理」という声が出るので、まずは15分ずつ、と受け止める。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スライド10で話した「朝が原因」に戻る。ここで一貫性を出す。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5つを一気に見せて、次の2枚で中身に入る。全部やらなくていいことを先に言っておく。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3つ全部やろうとすると続かない。1つ選ばせる言い方をする。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消化時間は、夕食が遅くなった日の選び方に直結する実用的な話。
アイスクリームが3時間以上かかるのは意外に思われるので、そこを拾うと反応がいい。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旬のものは価格が下がるので、家計の話としても伝わる。
「冷たいそうめんから、温かい根菜へ」という切り替えのイメージを持ってもらう。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献立の相談として使えるスライド。「今週これを1つ買ってみる」という宿題にしてもいい。
薬ではないので「効く」と断定せず、「おすすめ」の表現にとどめる。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献立を考えるのではなく、買い物を変えるという話。ここがいちばんハードルが低い。
第1回の内容に戻す形で締めると、2回の講座がつながる。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始業日は自治体差があるので相対表現にしてある。参加者に自分の家の始業日を書いてもらう。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5分ほど時間を取って、実際に書いてもらう。
書けた方はチャットに1つだけ書いてもらうと、他の家庭の例が参考になる。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完璧主義をゆるめるパート。ここで安心して終われるようにする。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3つに絞って言い切る。ここで参加者にメモを取ってもらう時間を10秒とる。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2024年版のまとめスライドを踏襲。やわらかく締める。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告知は最後にまとめて。話しすぎず、30秒から1分で。
白い枠のなかに、実際の日程・URL・QRコードなどを入れてください。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質疑5分。答えきれない質問は後日まとめて共有する旨を伝えて終了。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1417320"/>
            <a:ext cx="5394960" cy="53949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-274320"/>
            <a:ext cx="3108960" cy="310896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727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全2回オンライン講座 ／ 第2回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夏休みの終わり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99008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 食と生活リズムの整え方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4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2学期に向けて、朝・食事・夜の過ごし方をどう戻していくか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434840"/>
            <a:ext cx="5074920" cy="566928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 w="12700">
            <a:solidFill>
              <a:srgbClr val="3555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43484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8月17日（月）21:30 〜 23:00（90分）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394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スマイルおうち栄養士／管理栄養士　髙落 まどか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PROFILE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自己紹介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4937760" cy="3931920"/>
          </a:xfrm>
          <a:prstGeom prst="roundRect">
            <a:avLst>
              <a:gd name="adj" fmla="val 2093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スマイルおうち栄養士／管理栄養士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髙落 まどか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97280" y="33375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「夏休みごはん対策講座」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43434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FB4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忙しい毎日でも続けられる、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FB4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おうちごはんの整え方をお伝えしています。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97880" y="1536192"/>
            <a:ext cx="5650992" cy="1170432"/>
          </a:xfrm>
          <a:prstGeom prst="roundRect">
            <a:avLst>
              <a:gd name="adj" fmla="val 703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6824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8A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これまでのこと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2084832"/>
            <a:ext cx="5010912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2084832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9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経歴・資格・お仕事のことなど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97880" y="2907792"/>
            <a:ext cx="5650992" cy="1170432"/>
          </a:xfrm>
          <a:prstGeom prst="roundRect">
            <a:avLst>
              <a:gd name="adj" fmla="val 703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30540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8A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この講座への想い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3456432"/>
            <a:ext cx="5010912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3456432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9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なぜこの講座をひらいているか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97880" y="4279392"/>
            <a:ext cx="5650992" cy="1170432"/>
          </a:xfrm>
          <a:prstGeom prst="roundRect">
            <a:avLst>
              <a:gd name="adj" fmla="val 703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44256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8A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ふだんの発信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4828032"/>
            <a:ext cx="5010912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4828032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9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SNS・ブログ・お教室など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614476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右側は当日のご紹介内容にあわせて書き換えてください。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GOAL &amp; 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この90分で持ち帰っていただくこと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029200" cy="1024128"/>
          </a:xfrm>
          <a:prstGeom prst="roundRect">
            <a:avLst>
              <a:gd name="adj" fmla="val 803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19072"/>
            <a:ext cx="548640" cy="54864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27632" y="16276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朝から戻す手順がわかる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27632" y="20299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「夜を早める」ではうまくいきません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688336"/>
            <a:ext cx="5029200" cy="1024128"/>
          </a:xfrm>
          <a:prstGeom prst="roundRect">
            <a:avLst>
              <a:gd name="adj" fmla="val 803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926080"/>
            <a:ext cx="548640" cy="54864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27632" y="28346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不調を食事から見る視点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627632" y="32369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性格ではなく、食事から見てみます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895344"/>
            <a:ext cx="5029200" cy="1024128"/>
          </a:xfrm>
          <a:prstGeom prst="roundRect">
            <a:avLst>
              <a:gd name="adj" fmla="val 803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133088"/>
            <a:ext cx="548640" cy="54864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133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27632" y="40416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わが家の作戦が3つ決まる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627632" y="44439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最後にワークがあります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89320" y="1481328"/>
            <a:ext cx="5559552" cy="4315968"/>
          </a:xfrm>
          <a:prstGeom prst="roundRect">
            <a:avLst>
              <a:gd name="adj" fmla="val 1907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0936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今日の流れ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0" y="2295144"/>
            <a:ext cx="100584" cy="100584"/>
          </a:xfrm>
          <a:prstGeom prst="ellipse">
            <a:avLst/>
          </a:prstGeom>
          <a:solidFill>
            <a:srgbClr val="AAB8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48272" y="21488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はじめに ／ 今の体の状態を知る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515600" y="214884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8分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27648" y="2606040"/>
            <a:ext cx="274320" cy="27432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7648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48272" y="25511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いま体に起きていること（秋バテ）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515600" y="255117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12分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27648" y="3008376"/>
            <a:ext cx="274320" cy="27432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7648" y="3008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48272" y="29535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 — 一日と夜を決める時間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0515600" y="295351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15分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327648" y="3410712"/>
            <a:ext cx="274320" cy="27432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7648" y="3410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48272" y="33558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昼 — 食事の見方と注意すること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515600" y="335584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15分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327648" y="3813048"/>
            <a:ext cx="274320" cy="27432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27648" y="3813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48272" y="375818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夜 — 入浴と睡眠で整える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0515600" y="375818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13分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327648" y="4215384"/>
            <a:ext cx="274320" cy="27432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27648" y="4215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48272" y="41605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胃腸を整える食べ方と食材の選び方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0515600" y="416052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12分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327648" y="4617720"/>
            <a:ext cx="274320" cy="27432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27648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748272" y="456285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2学期に向けた準備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10515600" y="456285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3分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327648" y="5020056"/>
            <a:ext cx="274320" cy="274320"/>
          </a:xfrm>
          <a:prstGeom prst="ellipse">
            <a:avLst/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27648" y="5020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748272" y="49651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わが家のスタート作戦（ワーク）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10515600" y="496519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F8A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8分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400800" y="5513832"/>
            <a:ext cx="100584" cy="100584"/>
          </a:xfrm>
          <a:prstGeom prst="ellipse">
            <a:avLst/>
          </a:prstGeom>
          <a:solidFill>
            <a:srgbClr val="AAB8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48272" y="53675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 ／ おしらせ ／ 質疑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10515600" y="53675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4分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640080" y="5943600"/>
            <a:ext cx="10911535" cy="713232"/>
          </a:xfrm>
          <a:prstGeom prst="roundRect">
            <a:avLst>
              <a:gd name="adj" fmla="val 11538"/>
            </a:avLst>
          </a:prstGeom>
          <a:solidFill>
            <a:srgbClr val="FBEAD6"/>
          </a:solidFill>
          <a:ln w="12700">
            <a:solidFill>
              <a:srgbClr val="FBEAD6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1097280" y="5943600"/>
            <a:ext cx="9997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E1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正解を覚える時間ではありません。「わが家はこうする」を決めて帰る時間です。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LOOK BACK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前回（第1回）のおさらい＆報告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7223760" cy="1170432"/>
          </a:xfrm>
          <a:prstGeom prst="roundRect">
            <a:avLst>
              <a:gd name="adj" fmla="val 703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47088"/>
            <a:ext cx="566928" cy="56692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470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64208" y="175564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12種類の食材と2種類のたんぱく質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64208" y="215798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むずかしく考えず、地味に栄養をプラスする。これが前回のいちばんの話でした。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07792"/>
            <a:ext cx="7223760" cy="1170432"/>
          </a:xfrm>
          <a:prstGeom prst="roundRect">
            <a:avLst>
              <a:gd name="adj" fmla="val 703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218688"/>
            <a:ext cx="566928" cy="56692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18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64208" y="312724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食事は「足し算」で考える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64208" y="352958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減らす・やめさせるより、1品足すほうが早くて続きます。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279392"/>
            <a:ext cx="7223760" cy="1170432"/>
          </a:xfrm>
          <a:prstGeom prst="roundRect">
            <a:avLst>
              <a:gd name="adj" fmla="val 703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590288"/>
            <a:ext cx="566928" cy="56692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5902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64208" y="449884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完璧な食事より、続く食事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64208" y="490118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週の半分できていれば十分。ゼロか100かにしない。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83880" y="1536192"/>
            <a:ext cx="3364992" cy="3913632"/>
          </a:xfrm>
          <a:prstGeom prst="roundRect">
            <a:avLst>
              <a:gd name="adj" fmla="val 2446"/>
            </a:avLst>
          </a:prstGeom>
          <a:solidFill>
            <a:srgbClr val="E3EFEA"/>
          </a:solidFill>
          <a:ln w="12700">
            <a:solidFill>
              <a:srgbClr val="E3EFEA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58200" y="1874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8A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今回やること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58200" y="23774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この3つを、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2学期に向けた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「一日の時間割」に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落とし込みます。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58200" y="42062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 → 昼 → 夜 の順に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見ていきます。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614476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第1回に参加されていない方も、今日だけで完結する内容です。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はじめに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今の「あなた」と「お子さん」の体は、どんな状態でしょうか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266944" cy="3977640"/>
          </a:xfrm>
          <a:prstGeom prst="roundRect">
            <a:avLst>
              <a:gd name="adj" fmla="val 206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73736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373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大人（あなた）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87552" y="242316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9C7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331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朝から体が重い、起きるのがつらい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87552" y="313639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9C7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0449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冷房で手足が冷える／肩がこる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87552" y="384962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9C7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37581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冷たいもの・甘いものが増えた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87552" y="456285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9C7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447141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寝ても疲れが抜けない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81928" y="1481328"/>
            <a:ext cx="5266944" cy="3977640"/>
          </a:xfrm>
          <a:prstGeom prst="roundRect">
            <a:avLst>
              <a:gd name="adj" fmla="val 206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01968" y="173736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01968" y="17373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子ども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29400" y="242316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9C7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59168" y="2331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寝る時間が1〜2時間おそくなった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629400" y="313639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9C7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59168" y="30449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朝は10時、11時まで起きてこない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629400" y="384962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9C7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59168" y="37581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朝ごはんが菓子パンだけ／食べない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629400" y="456285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9C7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59168" y="447141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ちょっとしたことでイライラ・グズグズ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40080" y="5623560"/>
            <a:ext cx="10911535" cy="777240"/>
          </a:xfrm>
          <a:prstGeom prst="roundRect">
            <a:avLst>
              <a:gd name="adj" fmla="val 10588"/>
            </a:avLst>
          </a:prstGeom>
          <a:solidFill>
            <a:srgbClr val="FBEAD6"/>
          </a:solidFill>
          <a:ln w="12700">
            <a:solidFill>
              <a:srgbClr val="FBEAD6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97280" y="5623560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4E1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意外と気づいていないのが、自分の体。まず「今」を知るところから始めます。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いま体に起きていること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夏バテだけじゃない…「秋バテ」だってあります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6949440" cy="2286000"/>
          </a:xfrm>
          <a:prstGeom prst="roundRect">
            <a:avLst>
              <a:gd name="adj" fmla="val 36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73736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夏に起こる体のさまざまな不調は「夏バテ」と言われています。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221284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でも、夏が終わったとしても、夏の疲れが癒えないまま引きずってしまう。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28346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それが『秋バテ』です。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6949440" cy="1600200"/>
          </a:xfrm>
          <a:prstGeom prst="roundRect">
            <a:avLst>
              <a:gd name="adj" fmla="val 5143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24128" y="4315968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44074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7月・8月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24128" y="4709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夏バテ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52928" y="4315968"/>
            <a:ext cx="384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8C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36976" y="4315968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36976" y="44074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8月後半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36976" y="4709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77E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疲れが残る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65776" y="4315968"/>
            <a:ext cx="384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8C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49824" y="4315968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9824" y="44074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9月・10月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49824" y="4709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秋バテ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863840" y="1481328"/>
            <a:ext cx="3685032" cy="4096512"/>
          </a:xfrm>
          <a:prstGeom prst="roundRect">
            <a:avLst>
              <a:gd name="adj" fmla="val 2233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83880" y="1783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ここが今日の入口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83880" y="228600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「2学期が始まってから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崩れる」のは、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気持ちの問題では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ありません。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183880" y="39776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夏のあいだにたまった疲れが、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季節の変わり目に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出てくるからです。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だから、9月ではなく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「今」から整えます。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いま体に起きていること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秋バテが起こるのは「3大疲れ」が原因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3392424" cy="3611880"/>
          </a:xfrm>
          <a:prstGeom prst="roundRect">
            <a:avLst>
              <a:gd name="adj" fmla="val 24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783080"/>
            <a:ext cx="566928" cy="56692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45920" y="1783080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冷房疲れ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532888"/>
            <a:ext cx="275234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室内外の気温差で、体温を調整する力が消耗します。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手足の冷え、肩こり、だるさ、寝つきの悪さとして出ます。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98264" y="1481328"/>
            <a:ext cx="3392424" cy="3611880"/>
          </a:xfrm>
          <a:prstGeom prst="roundRect">
            <a:avLst>
              <a:gd name="adj" fmla="val 24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18304" y="1783080"/>
            <a:ext cx="566928" cy="566928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04104" y="1783080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胃腸疲れ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18304" y="2532888"/>
            <a:ext cx="275234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冷たいもの・そうめん中心の食生活の乱れで、胃腸が弱ります。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食欲が出ない、お腹の調子が悪い、栄養が入らない。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6448" y="1481328"/>
            <a:ext cx="3392424" cy="3611880"/>
          </a:xfrm>
          <a:prstGeom prst="roundRect">
            <a:avLst>
              <a:gd name="adj" fmla="val 24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76488" y="1783080"/>
            <a:ext cx="566928" cy="566928"/>
          </a:xfrm>
          <a:prstGeom prst="ellipse">
            <a:avLst/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76488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62288" y="1783080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水分不足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76488" y="2532888"/>
            <a:ext cx="275234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汗をかいた分を、うっかり補えていないことが多いです。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頭痛、集中が続かない、朝から元気がない。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285232"/>
            <a:ext cx="10911535" cy="777240"/>
          </a:xfrm>
          <a:prstGeom prst="roundRect">
            <a:avLst>
              <a:gd name="adj" fmla="val 1058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97280" y="5285232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3つとも、8月後半の今がいちばんたまっている時期です。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いま体に起きていること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胃腸が弱ると、腸内環境も気分も落ちていきます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5943600" cy="804672"/>
          </a:xfrm>
          <a:prstGeom prst="roundRect">
            <a:avLst>
              <a:gd name="adj" fmla="val 1022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682496"/>
            <a:ext cx="512064" cy="5120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6824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72768" y="1536192"/>
            <a:ext cx="4754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胃腸の働きが落ちる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24128" y="2340864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8C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2496312"/>
            <a:ext cx="5943600" cy="804672"/>
          </a:xfrm>
          <a:prstGeom prst="roundRect">
            <a:avLst>
              <a:gd name="adj" fmla="val 1022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96112" y="2642616"/>
            <a:ext cx="512064" cy="5120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6426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72768" y="2496312"/>
            <a:ext cx="4754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腸内環境が悪くなる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24128" y="3300984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8C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40080" y="3456432"/>
            <a:ext cx="5943600" cy="804672"/>
          </a:xfrm>
          <a:prstGeom prst="roundRect">
            <a:avLst>
              <a:gd name="adj" fmla="val 1022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3602736"/>
            <a:ext cx="512064" cy="5120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6027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72768" y="3456432"/>
            <a:ext cx="4754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食べても、うまく吸収できない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24128" y="4261104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8C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40080" y="4416552"/>
            <a:ext cx="5943600" cy="804672"/>
          </a:xfrm>
          <a:prstGeom prst="roundRect">
            <a:avLst>
              <a:gd name="adj" fmla="val 10227"/>
            </a:avLst>
          </a:prstGeom>
          <a:solidFill>
            <a:srgbClr val="F8E7E4"/>
          </a:solidFill>
          <a:ln w="12700">
            <a:solidFill>
              <a:srgbClr val="F8E7E4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4562856"/>
            <a:ext cx="512064" cy="512064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5628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72768" y="4416552"/>
            <a:ext cx="4754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気分まで落ちて、悪循環に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903720" y="1536192"/>
            <a:ext cx="4645152" cy="3886200"/>
          </a:xfrm>
          <a:prstGeom prst="roundRect">
            <a:avLst>
              <a:gd name="adj" fmla="val 2118"/>
            </a:avLst>
          </a:prstGeom>
          <a:solidFill>
            <a:srgbClr val="E3EFEA"/>
          </a:solidFill>
          <a:ln w="12700">
            <a:solidFill>
              <a:srgbClr val="E3EFEA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23760" y="1828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8A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逆に、腸内環境が整うと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269480" y="237744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免疫力が上がる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便通がよくなる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ストレスがやわらぐ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疲れにくくなる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269480" y="44348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腸と脳はおたがいに情報を送りあっていて、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気分とのつながりが注目されている分野です。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614476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腸内環境と気分の関係は研究が進んでいる分野です。ここでは「つながりがある」という視点としてお話ししています。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いま体に起きていること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「疲労」は、体だけの問題なのでしょうか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11535" cy="960120"/>
          </a:xfrm>
          <a:prstGeom prst="roundRect">
            <a:avLst>
              <a:gd name="adj" fmla="val 857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481328"/>
            <a:ext cx="99971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疲労感を出しているのは、じつは「脳」です。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5266944" cy="2697480"/>
          </a:xfrm>
          <a:prstGeom prst="roundRect">
            <a:avLst>
              <a:gd name="adj" fmla="val 3051"/>
            </a:avLst>
          </a:prstGeom>
          <a:solidFill>
            <a:srgbClr val="E3EFEA"/>
          </a:solidFill>
          <a:ln w="12700">
            <a:solidFill>
              <a:srgbClr val="E3EFEA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9718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9718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元気なとき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5204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昼は交感神経、夜は副交感神経。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一日のなかで、しっかり切り替わっています。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4663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8A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活動 → 休息 のリズムができている状態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47688" y="2697480"/>
            <a:ext cx="5266944" cy="2697480"/>
          </a:xfrm>
          <a:prstGeom prst="roundRect">
            <a:avLst>
              <a:gd name="adj" fmla="val 3051"/>
            </a:avLst>
          </a:prstGeom>
          <a:solidFill>
            <a:srgbClr val="F8E7E4"/>
          </a:solidFill>
          <a:ln w="12700">
            <a:solidFill>
              <a:srgbClr val="F8E7E4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67728" y="297180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67728" y="29718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なんとなく不調のとき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13448" y="35204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交感神経が優位な状態が、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長く続いている可能性があります。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13448" y="4663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休息に切り替われず、疲れが抜けない状態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532120"/>
            <a:ext cx="10911535" cy="777240"/>
          </a:xfrm>
          <a:prstGeom prst="roundRect">
            <a:avLst>
              <a:gd name="adj" fmla="val 10588"/>
            </a:avLst>
          </a:prstGeom>
          <a:solidFill>
            <a:srgbClr val="FBEAD6"/>
          </a:solidFill>
          <a:ln w="12700">
            <a:solidFill>
              <a:srgbClr val="FBEAD6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97280" y="5532120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4E1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だからこそ、睡眠の質を意識した「一日の過ごし方」がポイントになります。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いま体に起きていること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だから「直前に一気に戻す」はうまくいきません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3392424" cy="1600200"/>
          </a:xfrm>
          <a:prstGeom prst="roundRect">
            <a:avLst>
              <a:gd name="adj" fmla="val 514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737360"/>
            <a:ext cx="457200" cy="457200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2286000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体内時計は一気に動かない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2688" y="2651760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ずらせるのは1日15〜30分ほど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98264" y="1481328"/>
            <a:ext cx="3392424" cy="1600200"/>
          </a:xfrm>
          <a:prstGeom prst="roundRect">
            <a:avLst>
              <a:gd name="adj" fmla="val 514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0872" y="1737360"/>
            <a:ext cx="457200" cy="457200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90872" y="2286000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「早く寝なさい」では眠くならない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90872" y="2651760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眠気は起きた時刻と光で決まる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56448" y="1481328"/>
            <a:ext cx="3392424" cy="1600200"/>
          </a:xfrm>
          <a:prstGeom prst="roundRect">
            <a:avLst>
              <a:gd name="adj" fmla="val 514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49056" y="1737360"/>
            <a:ext cx="457200" cy="457200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49056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49056" y="2286000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3つ同時に言われても動けない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49056" y="2651760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寝ろ・起きろ・食べろが一度に来る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310128"/>
            <a:ext cx="10911535" cy="2148840"/>
          </a:xfrm>
          <a:prstGeom prst="roundRect">
            <a:avLst>
              <a:gd name="adj" fmla="val 383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188720" y="3520440"/>
            <a:ext cx="9814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動かすのは「夜」ではなく、「朝」だけ。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188720" y="416052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3555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4160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朝、起こす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383280" y="41605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03320" y="416052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3555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4160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光を浴びる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897880" y="41605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416052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3555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4160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朝ごはん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412480" y="41605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732520" y="416052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3555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32520" y="4160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夜が早まる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188720" y="493776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起きる時間が前に動けば、眠くなる時間も自然と前に動きます。夜は「結果」であって、「原因」ではありません。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614476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今日いちばん覚えて帰っていただきたいのは、この1枚です。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3108960" cy="31089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06840" y="1691640"/>
            <a:ext cx="2560320" cy="256032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06840" y="169164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目覚めてからの行動が、</a:t>
            </a:r>
            <a:endParaRPr lang="en-US" sz="3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その日と夜を決める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4645152"/>
            <a:ext cx="118872" cy="11887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4526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起きる時間の決め方と、15分ずつの前倒し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" y="5102352"/>
            <a:ext cx="118872" cy="11887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4983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光と朝ごはんという2つのスイッチ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" y="5559552"/>
            <a:ext cx="118872" cy="11887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5440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朝食におすすめの食材（トリプトファン × ビタミンB6）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朝を戻す3ステップ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7818120" cy="1261872"/>
          </a:xfrm>
          <a:prstGeom prst="roundRect">
            <a:avLst>
              <a:gd name="adj" fmla="val 652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773936"/>
            <a:ext cx="676656" cy="676656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73936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47088" y="166420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起きる時間を先に決める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847088" y="208483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寝る時間ではなく、起きる時間から決めます。2学期の起床時刻を、家族で1つに。まずは紙に書いて貼るところから。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98648"/>
            <a:ext cx="7818120" cy="1261872"/>
          </a:xfrm>
          <a:prstGeom prst="roundRect">
            <a:avLst>
              <a:gd name="adj" fmla="val 652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3191256"/>
            <a:ext cx="676656" cy="676656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191256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47088" y="308152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起きて30分以内に光を浴びる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847088" y="350215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セロトニンが分泌されて交感神経が優位に切り替わり、活動スイッチが入ります。カーテンを開けるだけでOK。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15968"/>
            <a:ext cx="7818120" cy="1261872"/>
          </a:xfrm>
          <a:prstGeom prst="roundRect">
            <a:avLst>
              <a:gd name="adj" fmla="val 652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608576"/>
            <a:ext cx="676656" cy="676656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608576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47088" y="449884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朝ごはんを食べる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847088" y="491947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食べると内臓の時計が動きはじめます。トリプトファンとビタミンB6を含む食品がおすすめです。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732520" y="1481328"/>
            <a:ext cx="2816352" cy="4160520"/>
          </a:xfrm>
          <a:prstGeom prst="roundRect">
            <a:avLst>
              <a:gd name="adj" fmla="val 2922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00684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順番が大事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006840" y="2286000"/>
            <a:ext cx="2286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①→②→③の順に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やってください。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③だけを先に頑張ると、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「食べない」で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もめて終わります。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①が決まらないうちは、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②も③も動きません。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15分ずつ前倒し作戦（例：9:30 → 6:45）</a:t>
            </a:r>
            <a:endParaRPr lang="en-US" sz="2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81328"/>
          <a:ext cx="78181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371600"/>
                <a:gridCol w="41148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日にち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起きる時間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この日のねらい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3A5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8/18（火）〜19（水）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3A5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9:15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3A5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まずは15分だけ。起きたらカーテンを開ける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3A5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8/20（木）〜21（金）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3A5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8:45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3A5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朝ごはんを一口。飲みものだけでもOK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3A5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8/22（土）〜23（日）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3A5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8:15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3A5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土日も同じ時間で。ここが最大の山場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3A5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8/24（月）〜25（火）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3A5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7:45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3A5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朝ごはんを2品に（主食＋たんぱく質）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3A5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8/26（水）〜27（木）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3A5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7:15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3A5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着替え・支度まで通しで練習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3A5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8/28（金）〜31（月）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3A5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6:45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3A5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学校と同じ時間で通し運転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732520" y="1481328"/>
            <a:ext cx="2816352" cy="3291840"/>
          </a:xfrm>
          <a:prstGeom prst="roundRect">
            <a:avLst>
              <a:gd name="adj" fmla="val 2922"/>
            </a:avLst>
          </a:prstGeom>
          <a:solidFill>
            <a:srgbClr val="FBEAD6"/>
          </a:solidFill>
          <a:ln w="12700">
            <a:solidFill>
              <a:srgbClr val="FBEAD6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006840" y="1755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4E1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コツ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006840" y="2212848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8A4E1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・2日で15分ずつ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8A4E1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・土日もそろえる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8A4E1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・目標時刻から逆算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8A4E1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・戻すのは「起床」だけ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006840" y="39319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4E1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残り日数が少ないときは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4E1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30分刻みでも大丈夫。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4E1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ゼロよりずっと違います。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732520" y="4937760"/>
            <a:ext cx="2816352" cy="932688"/>
          </a:xfrm>
          <a:prstGeom prst="roundRect">
            <a:avLst>
              <a:gd name="adj" fmla="val 8824"/>
            </a:avLst>
          </a:prstGeom>
          <a:solidFill>
            <a:srgbClr val="E3EFEA"/>
          </a:solidFill>
          <a:ln w="12700">
            <a:solidFill>
              <a:srgbClr val="E3EFEA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006840" y="4937760"/>
            <a:ext cx="2286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A5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寝る時間は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A5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決めなくてOK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0080" y="614476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起床時刻の一例です。ご家庭の「今の起床時刻」と「2学期の起床時刻」に合わせて刻んでください。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朝ごはんの「最低ライン」3レベル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3392424" cy="3611880"/>
          </a:xfrm>
          <a:prstGeom prst="roundRect">
            <a:avLst>
              <a:gd name="adj" fmla="val 24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" y="1737360"/>
            <a:ext cx="1170432" cy="329184"/>
          </a:xfrm>
          <a:prstGeom prst="roundRect">
            <a:avLst>
              <a:gd name="adj" fmla="val 50000"/>
            </a:avLst>
          </a:prstGeom>
          <a:solidFill>
            <a:srgbClr val="5C6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737360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LEVEL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41832" y="221284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まず水分＋一口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27066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麦茶・牛乳・スープ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バナナ／ヨーグルト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一口サイズのおにぎり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41832" y="406908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「朝は食べられない」子は、ここからで十分です。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98264" y="1481328"/>
            <a:ext cx="3392424" cy="3611880"/>
          </a:xfrm>
          <a:prstGeom prst="roundRect">
            <a:avLst>
              <a:gd name="adj" fmla="val 24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0016" y="1737360"/>
            <a:ext cx="1170432" cy="329184"/>
          </a:xfrm>
          <a:prstGeom prst="roundRect">
            <a:avLst>
              <a:gd name="adj" fmla="val 50000"/>
            </a:avLst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0016" y="1737360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LEVEL 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00016" y="221284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炭水化物＋たんぱく質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764024" y="2697480"/>
            <a:ext cx="27066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おにぎり＋ゆで卵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パン＋チーズ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ごはん＋納豆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0016" y="406908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ここまで来ると、午前中の集中がもちます。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56448" y="1481328"/>
            <a:ext cx="3392424" cy="3611880"/>
          </a:xfrm>
          <a:prstGeom prst="roundRect">
            <a:avLst>
              <a:gd name="adj" fmla="val 24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58200" y="1737360"/>
            <a:ext cx="1170432" cy="329184"/>
          </a:xfrm>
          <a:prstGeom prst="roundRect">
            <a:avLst>
              <a:gd name="adj" fmla="val 50000"/>
            </a:avLst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58200" y="1737360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LEVEL 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458200" y="221284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＋汁物か果物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522208" y="2697480"/>
            <a:ext cx="27066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みそ汁・具だくさんスープ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果物を1品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野菜をひとつまみ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58200" y="406908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水分とミネラルも一緒に。毎日でなくて大丈夫。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303520"/>
            <a:ext cx="10911535" cy="749808"/>
          </a:xfrm>
          <a:prstGeom prst="roundRect">
            <a:avLst>
              <a:gd name="adj" fmla="val 10976"/>
            </a:avLst>
          </a:prstGeom>
          <a:solidFill>
            <a:srgbClr val="FBEAD6"/>
          </a:solidFill>
          <a:ln w="12700">
            <a:solidFill>
              <a:srgbClr val="FBEAD6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97280" y="5303520"/>
            <a:ext cx="99971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4E1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目指すのは LEVEL 2。毎日 LEVEL 3 でなくて大丈夫です。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朝食におすすめ — トリプトファン × ビタミンB6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11535" cy="777240"/>
          </a:xfrm>
          <a:prstGeom prst="roundRect">
            <a:avLst>
              <a:gd name="adj" fmla="val 1058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481328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セロトニンの材料が「トリプトファン」、その働きを助けるのが「ビタミンB6」です。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87168"/>
            <a:ext cx="3392424" cy="2788920"/>
          </a:xfrm>
          <a:prstGeom prst="roundRect">
            <a:avLst>
              <a:gd name="adj" fmla="val 295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743200"/>
            <a:ext cx="2880360" cy="475488"/>
          </a:xfrm>
          <a:prstGeom prst="roundRect">
            <a:avLst>
              <a:gd name="adj" fmla="val 17308"/>
            </a:avLst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743200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トリプトファンが多い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32688" y="3401568"/>
            <a:ext cx="2843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ヨーグルト・牛乳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チーズ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豆腐・納豆・味噌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ピーナッツ・アーモンド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ごま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98264" y="2487168"/>
            <a:ext cx="3392424" cy="2788920"/>
          </a:xfrm>
          <a:prstGeom prst="roundRect">
            <a:avLst>
              <a:gd name="adj" fmla="val 295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54296" y="2743200"/>
            <a:ext cx="2880360" cy="475488"/>
          </a:xfrm>
          <a:prstGeom prst="roundRect">
            <a:avLst>
              <a:gd name="adj" fmla="val 17308"/>
            </a:avLst>
          </a:prstGeom>
          <a:solidFill>
            <a:srgbClr val="C77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4296" y="2743200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ビタミンB6が多い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90872" y="3401568"/>
            <a:ext cx="2843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鶏肉・豚肉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かつお・まぐろなどの青魚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レバー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にんにく・生姜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玄米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56448" y="2487168"/>
            <a:ext cx="3392424" cy="2788920"/>
          </a:xfrm>
          <a:prstGeom prst="roundRect">
            <a:avLst>
              <a:gd name="adj" fmla="val 295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2743200"/>
            <a:ext cx="2880360" cy="475488"/>
          </a:xfrm>
          <a:prstGeom prst="roundRect">
            <a:avLst>
              <a:gd name="adj" fmla="val 17308"/>
            </a:avLst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2743200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両方ふくむ食品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449056" y="3401568"/>
            <a:ext cx="2843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バナナ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納豆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豆腐・豆乳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卵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468112"/>
            <a:ext cx="10911535" cy="749808"/>
          </a:xfrm>
          <a:prstGeom prst="roundRect">
            <a:avLst>
              <a:gd name="adj" fmla="val 10976"/>
            </a:avLst>
          </a:prstGeom>
          <a:solidFill>
            <a:srgbClr val="E3EFEA"/>
          </a:solidFill>
          <a:ln w="12700">
            <a:solidFill>
              <a:srgbClr val="E3EFEA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97280" y="5468112"/>
            <a:ext cx="99971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5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むずかしく考えず「バナナ＋牛乳」「ごはん＋納豆」。これで両方そろいます。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朝ごはんに1品足す — のせるだけ・かけるだけ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3392424" cy="3657600"/>
          </a:xfrm>
          <a:prstGeom prst="roundRect">
            <a:avLst>
              <a:gd name="adj" fmla="val 24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755648"/>
            <a:ext cx="2880360" cy="548640"/>
          </a:xfrm>
          <a:prstGeom prst="roundRect">
            <a:avLst>
              <a:gd name="adj" fmla="val 15000"/>
            </a:avLst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5564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ごはんに のせる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450592"/>
            <a:ext cx="2843784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450592"/>
            <a:ext cx="2624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卵（生卵・温泉卵）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2971800"/>
            <a:ext cx="2843784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971800"/>
            <a:ext cx="2624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納豆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3493008"/>
            <a:ext cx="2843784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3493008"/>
            <a:ext cx="2624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しらす・ちりめんじゃこ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4014216"/>
            <a:ext cx="2843784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4014216"/>
            <a:ext cx="2624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鮭フレーク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4535424"/>
            <a:ext cx="2843784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4535424"/>
            <a:ext cx="2624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韓国のり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98264" y="1481328"/>
            <a:ext cx="3392424" cy="3657600"/>
          </a:xfrm>
          <a:prstGeom prst="roundRect">
            <a:avLst>
              <a:gd name="adj" fmla="val 24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54296" y="1755648"/>
            <a:ext cx="2880360" cy="548640"/>
          </a:xfrm>
          <a:prstGeom prst="roundRect">
            <a:avLst>
              <a:gd name="adj" fmla="val 15000"/>
            </a:avLst>
          </a:prstGeom>
          <a:solidFill>
            <a:srgbClr val="C77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54296" y="175564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パンに のせる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672584" y="2450592"/>
            <a:ext cx="2843784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2312" y="2450592"/>
            <a:ext cx="2624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スライスチーズ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672584" y="2971800"/>
            <a:ext cx="2843784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2971800"/>
            <a:ext cx="2624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ハム・ツナ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672584" y="3493008"/>
            <a:ext cx="2843784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82312" y="3493008"/>
            <a:ext cx="2624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ピーナッツバター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672584" y="4014216"/>
            <a:ext cx="2843784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82312" y="4014216"/>
            <a:ext cx="2624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ヨーグルトを添える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156448" y="1481328"/>
            <a:ext cx="3392424" cy="3657600"/>
          </a:xfrm>
          <a:prstGeom prst="roundRect">
            <a:avLst>
              <a:gd name="adj" fmla="val 24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12480" y="1755648"/>
            <a:ext cx="2880360" cy="548640"/>
          </a:xfrm>
          <a:prstGeom prst="roundRect">
            <a:avLst>
              <a:gd name="adj" fmla="val 15000"/>
            </a:avLst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175564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汁物に 入れる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430768" y="2450592"/>
            <a:ext cx="2843784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40496" y="2450592"/>
            <a:ext cx="2624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乾燥わかめ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430768" y="2971800"/>
            <a:ext cx="2843784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40496" y="2971800"/>
            <a:ext cx="2624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豆腐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430768" y="3493008"/>
            <a:ext cx="2843784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40496" y="3493008"/>
            <a:ext cx="2624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冷凍のカット野菜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430768" y="4014216"/>
            <a:ext cx="2843784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40496" y="4014216"/>
            <a:ext cx="2624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卵を落とす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0080" y="5321808"/>
            <a:ext cx="10911535" cy="777240"/>
          </a:xfrm>
          <a:prstGeom prst="roundRect">
            <a:avLst>
              <a:gd name="adj" fmla="val 1058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097280" y="5321808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切る・炒めるは要りません。のせる、かける、落とすだけ。1品足すのに30秒あれば十分です。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3108960" cy="31089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06840" y="1691640"/>
            <a:ext cx="2560320" cy="256032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06840" y="169164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昼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起きられない、だるい、イライラ</a:t>
            </a:r>
            <a:endParaRPr lang="en-US" sz="3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を食事から見る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4645152"/>
            <a:ext cx="118872" cy="11887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4526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血糖の波・たんぱく質と鉄・水分とミネラル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" y="5102352"/>
            <a:ext cx="118872" cy="11887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4983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昼に注意したいこと（カフェインと糖質）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" y="5559552"/>
            <a:ext cx="118872" cy="11887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5440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0円でできる、3つの習慣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その不調、食事からのサインかもしれません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3392424" cy="3520440"/>
          </a:xfrm>
          <a:prstGeom prst="roundRect">
            <a:avLst>
              <a:gd name="adj" fmla="val 24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783080"/>
            <a:ext cx="566928" cy="56692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45920" y="1783080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血糖の波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542032"/>
            <a:ext cx="27523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菓子パンやジュース“だけ”の朝は、いったん上がって急に落ちます。落ちたときに出るのが、だるさ・眠気・イライラ。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60120" y="4114800"/>
            <a:ext cx="2752344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4114800"/>
            <a:ext cx="2569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だるい・イライラ・急な眠気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98264" y="1481328"/>
            <a:ext cx="3392424" cy="3520440"/>
          </a:xfrm>
          <a:prstGeom prst="roundRect">
            <a:avLst>
              <a:gd name="adj" fmla="val 24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18304" y="1783080"/>
            <a:ext cx="566928" cy="566928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404104" y="1783080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たんぱく質と鉄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18304" y="2542032"/>
            <a:ext cx="27523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そうめん中心の夏は、どちらも不足しがち。とくに成長期と、生理のある女の子は減りやすい栄養素です。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18304" y="4114800"/>
            <a:ext cx="2752344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4114800"/>
            <a:ext cx="2569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立ちくらみ・集中が続かない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56448" y="1481328"/>
            <a:ext cx="3392424" cy="3520440"/>
          </a:xfrm>
          <a:prstGeom prst="roundRect">
            <a:avLst>
              <a:gd name="adj" fmla="val 24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76488" y="1783080"/>
            <a:ext cx="566928" cy="566928"/>
          </a:xfrm>
          <a:prstGeom prst="ellipse">
            <a:avLst/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76488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162288" y="1783080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水分とミネラル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76488" y="2542032"/>
            <a:ext cx="27523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汗で出たまま、麦茶だけで過ごしていませんか。水分だけでは足りず、塩分やミネラルも一緒に必要です。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476488" y="4114800"/>
            <a:ext cx="2752344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67928" y="4114800"/>
            <a:ext cx="2569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F8A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頭痛・食欲がない・元気が出ない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193792"/>
            <a:ext cx="10911535" cy="82296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51560" y="5193792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ここでお話しするのは「食事から見てみる」という視点です。症状が続くときや気になるときは、必ず医療機関にご相談ください。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同じ「食べた」でも、午前中の体調は変わります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481328"/>
          <a:ext cx="722376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23036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9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血糖の動きのイメージ図です（実測値ではありません）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8183880" y="1481328"/>
            <a:ext cx="3364992" cy="1965960"/>
          </a:xfrm>
          <a:prstGeom prst="roundRect">
            <a:avLst>
              <a:gd name="adj" fmla="val 4186"/>
            </a:avLst>
          </a:prstGeom>
          <a:solidFill>
            <a:srgbClr val="FBEAD6"/>
          </a:solidFill>
          <a:ln w="12700">
            <a:solidFill>
              <a:srgbClr val="FBEAD6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485632" y="16916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4E1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急に上がると、急に落ちる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485632" y="214884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A4E1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落ちたタイミングで出るのが、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A4E1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だるさ・眠気・イライラ。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A4E1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「食べたのに元気がない」の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A4E1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正体はここにあります。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183880" y="3611880"/>
            <a:ext cx="3364992" cy="2103120"/>
          </a:xfrm>
          <a:prstGeom prst="roundRect">
            <a:avLst>
              <a:gd name="adj" fmla="val 3913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485632" y="382219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覚えるのは1つだけ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485632" y="422452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単品にしない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485632" y="475488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パンだけ・麺だけ・果物だけを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やめて、何か1つ足す。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それだけで波はゆるやかに。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水分とミネラル — 麦茶だけでは足りません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4846320" cy="3977640"/>
          </a:xfrm>
          <a:prstGeom prst="roundRect">
            <a:avLst>
              <a:gd name="adj" fmla="val 2069"/>
            </a:avLst>
          </a:prstGeom>
          <a:solidFill>
            <a:srgbClr val="F8E7E4"/>
          </a:solidFill>
          <a:ln w="12700">
            <a:solidFill>
              <a:srgbClr val="F8E7E4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7556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なぜ「水やお茶だけ」では足りないのか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汗で出ていくのは、水分だけではありません。塩分やミネラルも一緒に失われています。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水やお茶だけを補い続けると、体の中がうすまって、かえって不調が出ることがあります。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" y="39776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出やすいサイン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60120" y="434340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C3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43434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頭 痛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081528" y="434340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C3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81528" y="43434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食欲が出ない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60120" y="489204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C3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892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だるい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081528" y="489204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C3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81528" y="4892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立ちくらみ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806440" y="1481328"/>
            <a:ext cx="5742432" cy="1600200"/>
          </a:xfrm>
          <a:prstGeom prst="roundRect">
            <a:avLst>
              <a:gd name="adj" fmla="val 514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700784"/>
            <a:ext cx="502920" cy="502920"/>
          </a:xfrm>
          <a:prstGeom prst="ellipse">
            <a:avLst/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700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66560" y="162763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汁物を1日1杯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66560" y="20299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水分・塩分・ミネラルが、これ1つでまとめて摂れます。5分でできる組み合わせ。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766560" y="2532888"/>
            <a:ext cx="14173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53288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わかめ＋豆腐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302752" y="2532888"/>
            <a:ext cx="14173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48472" y="253288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卵＋冷凍ほうれん草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838944" y="2532888"/>
            <a:ext cx="14173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84664" y="253288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即席みそ汁＋わかめ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806440" y="3127248"/>
            <a:ext cx="5742432" cy="1143000"/>
          </a:xfrm>
          <a:prstGeom prst="roundRect">
            <a:avLst>
              <a:gd name="adj" fmla="val 72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0760" y="3346704"/>
            <a:ext cx="502920" cy="50292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0760" y="3346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766560" y="32735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果物と乳製品を足す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66560" y="36758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バナナ・すいか・梨、牛乳・ヨーグルト。カリウムやカルシウムが一緒に摂れます。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806440" y="4315968"/>
            <a:ext cx="5742432" cy="1143000"/>
          </a:xfrm>
          <a:prstGeom prst="roundRect">
            <a:avLst>
              <a:gd name="adj" fmla="val 72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80760" y="4535424"/>
            <a:ext cx="502920" cy="5029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80760" y="4535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766560" y="44622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一度に飲まず、回数を分ける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66560" y="4864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起きてすぐ／食事ごと／お風呂の前後に、コップ1杯ずつ。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40080" y="5623560"/>
            <a:ext cx="10911535" cy="777240"/>
          </a:xfrm>
          <a:prstGeom prst="roundRect">
            <a:avLst>
              <a:gd name="adj" fmla="val 1058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097280" y="5623560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いちばん簡単なのは「みそ汁を1杯足す」。水分・塩分・ミネラルが、これ1つでまとめて摂れます。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注意すること — カフェインと糖質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266944" cy="3977640"/>
          </a:xfrm>
          <a:prstGeom prst="roundRect">
            <a:avLst>
              <a:gd name="adj" fmla="val 2069"/>
            </a:avLst>
          </a:prstGeom>
          <a:solidFill>
            <a:srgbClr val="F8E7E4"/>
          </a:solidFill>
          <a:ln w="12700">
            <a:solidFill>
              <a:srgbClr val="F8E7E4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783080"/>
            <a:ext cx="502920" cy="502920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17830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カフェイン摂取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2514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夕方以降に飲むと、覚醒作用が夜まで続いてしまいます。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05840" y="3063240"/>
            <a:ext cx="45720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4C3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0632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15時以降は飲まないようにする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37947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子どもも同じです。エナジードリンク、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コーヒー、濃い緑茶、コーラにも入っています。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05840" y="46177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夏休みは自由に飲めてしまうので、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2学期前に「時間の約束」を決め直しておく。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47688" y="1481328"/>
            <a:ext cx="5266944" cy="3977640"/>
          </a:xfrm>
          <a:prstGeom prst="roundRect">
            <a:avLst>
              <a:gd name="adj" fmla="val 2069"/>
            </a:avLst>
          </a:prstGeom>
          <a:solidFill>
            <a:srgbClr val="FBEAD6"/>
          </a:solidFill>
          <a:ln w="12700">
            <a:solidFill>
              <a:srgbClr val="FBEAD6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013448" y="1783080"/>
            <a:ext cx="502920" cy="50292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1344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653528" y="17830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A4E1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糖質の過多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013448" y="2514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血糖値の乱高下により、心と体の両方に不調が出ます。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013448" y="3063240"/>
            <a:ext cx="45720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BD4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13448" y="30632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4E1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「単品で食べない」だけで変わる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13448" y="37947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ジュース、菓子パン、アイス、そうめん。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夏休みは単品で済ませる場面が増えます。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013448" y="46177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やめさせるのではなく、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たんぱく質を1つ添える・時間を決める。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614476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禁止するほど反発が強くなります。「量」ではなく「時間」と「組み合わせ」で調整するのがコツです。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夏ごはんあるある × ちょい足し</a:t>
            </a:r>
            <a:endParaRPr lang="en-US" sz="27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81328"/>
          <a:ext cx="1091153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657600"/>
                <a:gridCol w="3962095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よくある夏ごはん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起きやすいこと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ちょい足し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5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そうめん・うどんだけ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5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たんぱく質が足りず、だるい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5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ゆで卵・ツナ・豚しゃぶ・納豆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5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菓子パン・ジュースの朝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5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血糖の波でイライラ・眠い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5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牛乳・ヨーグルト・チーズ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5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冷たいものばかり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5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胃腸が疲れて食欲が落ちる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5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温かい汁物を1品だけ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5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アイス・お菓子が主食化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5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夕食が入らなくなる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5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時間を決める（食後・15時まで）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5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麦茶だけで過ごす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5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ミネラル不足で頭痛・だるさ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3A5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みそ汁・スープ・果物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52400" marR="152400" marT="63500" marB="63500" anchor="ctr">
                    <a:lnL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120640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E3EFEA"/>
          </a:solidFill>
          <a:ln w="12700">
            <a:solidFill>
              <a:srgbClr val="E3EFEA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97280" y="5120640"/>
            <a:ext cx="99971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5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献立を変えなくて大丈夫。いつものメニューに「1つ足す」だけで十分です。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取り入れたほうがいいこと — 0円でできる3つ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3392424" cy="3520440"/>
          </a:xfrm>
          <a:prstGeom prst="roundRect">
            <a:avLst>
              <a:gd name="adj" fmla="val 24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783080"/>
            <a:ext cx="566928" cy="56692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45920" y="1783080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食べることに集中する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532888"/>
            <a:ext cx="27523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テレビやスマホを見ながらの「ながら食べ」をやめてみる。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食べた実感が出て、満足感も、消化も変わります。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98264" y="1481328"/>
            <a:ext cx="3392424" cy="3520440"/>
          </a:xfrm>
          <a:prstGeom prst="roundRect">
            <a:avLst>
              <a:gd name="adj" fmla="val 24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18304" y="1783080"/>
            <a:ext cx="566928" cy="566928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04104" y="1783080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深呼吸する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18304" y="2532888"/>
            <a:ext cx="27523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ゆっくり吐くと、副交感神経に切り替わります。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食事の前にひと呼吸。イライラしたときにも。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6448" y="1481328"/>
            <a:ext cx="3392424" cy="3520440"/>
          </a:xfrm>
          <a:prstGeom prst="roundRect">
            <a:avLst>
              <a:gd name="adj" fmla="val 24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76488" y="1783080"/>
            <a:ext cx="566928" cy="566928"/>
          </a:xfrm>
          <a:prstGeom prst="ellipse">
            <a:avLst/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76488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62288" y="1783080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笑う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76488" y="2532888"/>
            <a:ext cx="27523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作り笑いでも効果があると言われています。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親が笑っている食卓は、それだけで子どもの体をゆるめます。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193792"/>
            <a:ext cx="10911535" cy="777240"/>
          </a:xfrm>
          <a:prstGeom prst="roundRect">
            <a:avLst>
              <a:gd name="adj" fmla="val 10588"/>
            </a:avLst>
          </a:prstGeom>
          <a:solidFill>
            <a:srgbClr val="FBEAD6"/>
          </a:solidFill>
          <a:ln w="12700">
            <a:solidFill>
              <a:srgbClr val="FBEAD6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97280" y="5193792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4E1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どれもお金も時間もかかりません。今日の夕食から1つだけ試してみてください。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それでも「食べない」ときは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7818120" cy="1298448"/>
          </a:xfrm>
          <a:prstGeom prst="roundRect">
            <a:avLst>
              <a:gd name="adj" fmla="val 633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847088"/>
            <a:ext cx="566928" cy="56692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470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37360" y="1737360"/>
            <a:ext cx="6537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量より、回数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737360" y="2157984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1回で食べきらせなくて大丈夫。朝に一口、登校前に一口、と分けるほうが体に入ります。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62656"/>
            <a:ext cx="7818120" cy="1298448"/>
          </a:xfrm>
          <a:prstGeom prst="roundRect">
            <a:avLst>
              <a:gd name="adj" fmla="val 633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3328416"/>
            <a:ext cx="566928" cy="56692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3284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37360" y="3218688"/>
            <a:ext cx="6537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食べやすい形にする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737360" y="3639312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冷たい・のどごしがいい・小さい。ゼリー、スープ、半分のおにぎりなど。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443984"/>
            <a:ext cx="7818120" cy="1298448"/>
          </a:xfrm>
          <a:prstGeom prst="roundRect">
            <a:avLst>
              <a:gd name="adj" fmla="val 633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809744"/>
            <a:ext cx="566928" cy="56692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809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737360" y="4700016"/>
            <a:ext cx="6537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飲みもので栄養を入れる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737360" y="5120640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牛乳、豆乳、飲むヨーグルト、具だくさんのスープ。噛まずに済むものなら、食べられない朝でも入ります。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732520" y="1481328"/>
            <a:ext cx="2816352" cy="4443984"/>
          </a:xfrm>
          <a:prstGeom prst="roundRect">
            <a:avLst>
              <a:gd name="adj" fmla="val 2922"/>
            </a:avLst>
          </a:prstGeom>
          <a:solidFill>
            <a:srgbClr val="F8E7E4"/>
          </a:solidFill>
          <a:ln w="12700">
            <a:solidFill>
              <a:srgbClr val="F8E7E4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06840" y="1828800"/>
            <a:ext cx="457200" cy="457200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068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006840" y="2423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こんなときは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相談を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052560" y="329184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7A3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体重が減ってきた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7A3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水分もとれない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7A3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2週間以上つづく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7A3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朝の頭痛・腹痛が毎日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14476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迷ったら、かかりつけ医・学校の養護教諭・スクールカウンセラーへ。早いほど選択肢が多くなります。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3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3108960" cy="31089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06840" y="1691640"/>
            <a:ext cx="2560320" cy="256032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06840" y="169164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夜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自律神経を整えるために</a:t>
            </a:r>
            <a:endParaRPr lang="en-US" sz="3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『入浴』と『睡眠』は押さえたい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4645152"/>
            <a:ext cx="118872" cy="11887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4526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夕食の時間・中身・遅くなった日の対応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" y="5102352"/>
            <a:ext cx="118872" cy="11887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4983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入浴は38〜39度で、就寝の90分前まで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" y="5559552"/>
            <a:ext cx="118872" cy="11887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5440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必要な睡眠時間は、大人と子どもで違います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 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夕食の3つのポイント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11535" cy="1207008"/>
          </a:xfrm>
          <a:prstGeom prst="roundRect">
            <a:avLst>
              <a:gd name="adj" fmla="val 681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810512"/>
            <a:ext cx="1051560" cy="548640"/>
          </a:xfrm>
          <a:prstGeom prst="roundRect">
            <a:avLst>
              <a:gd name="adj" fmla="val 15000"/>
            </a:avLst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81051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212848" y="1664208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寝る3時間前までに食べ終わる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212848" y="21031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難しい日は、夕方に軽く食べておいて、帰宅後は軽めに。2回に分けるほうが体はラクです。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71216"/>
            <a:ext cx="10911535" cy="1207008"/>
          </a:xfrm>
          <a:prstGeom prst="roundRect">
            <a:avLst>
              <a:gd name="adj" fmla="val 681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32688" y="3200400"/>
            <a:ext cx="1051560" cy="548640"/>
          </a:xfrm>
          <a:prstGeom prst="roundRect">
            <a:avLst>
              <a:gd name="adj" fmla="val 15000"/>
            </a:avLst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320040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中身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212848" y="3054096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主食＋たんぱく質＋野菜を1皿ずつ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212848" y="3493008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そろえるだけで十分。夜おそくなった日は、揚げ物と大盛りだけ避けてください。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61104"/>
            <a:ext cx="10911535" cy="1207008"/>
          </a:xfrm>
          <a:prstGeom prst="roundRect">
            <a:avLst>
              <a:gd name="adj" fmla="val 681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4590288"/>
            <a:ext cx="1051560" cy="548640"/>
          </a:xfrm>
          <a:prstGeom prst="roundRect">
            <a:avLst>
              <a:gd name="adj" fmla="val 15000"/>
            </a:avLst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590288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遅い日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212848" y="4443984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「抜く」より「軽く」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212848" y="4882896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おにぎり＋みそ汁、うどん＋卵。それで大丈夫です。抜くと、夜中に空腹で目が覚めます。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650992"/>
            <a:ext cx="10911535" cy="777240"/>
          </a:xfrm>
          <a:prstGeom prst="roundRect">
            <a:avLst>
              <a:gd name="adj" fmla="val 1058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97280" y="5650992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夜にたくさん食べた翌朝は、朝ごはんが入りません。朝を守るために、夜を軽くします。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 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入浴 — ぬるめのお湯で、じっくり温まる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943600" cy="3977640"/>
          </a:xfrm>
          <a:prstGeom prst="roundRect">
            <a:avLst>
              <a:gd name="adj" fmla="val 206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783080"/>
            <a:ext cx="1417320" cy="475488"/>
          </a:xfrm>
          <a:prstGeom prst="roundRect">
            <a:avLst>
              <a:gd name="adj" fmla="val 17308"/>
            </a:avLst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8308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お湯の温度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17373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38〜39度くらいの、ややぬるめ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" y="2715768"/>
            <a:ext cx="1417320" cy="475488"/>
          </a:xfrm>
          <a:prstGeom prst="roundRect">
            <a:avLst>
              <a:gd name="adj" fmla="val 17308"/>
            </a:avLst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71576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 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267004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10〜15分ほど。複数回に分けて出入りすると、血流が改善されやすくなります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0120" y="3648456"/>
            <a:ext cx="1417320" cy="475488"/>
          </a:xfrm>
          <a:prstGeom prst="roundRect">
            <a:avLst>
              <a:gd name="adj" fmla="val 17308"/>
            </a:avLst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64845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タイミング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3602736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就寝の90分前までに湯船から出る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60120" y="4581144"/>
            <a:ext cx="1417320" cy="475488"/>
          </a:xfrm>
          <a:prstGeom prst="roundRect">
            <a:avLst>
              <a:gd name="adj" fmla="val 17308"/>
            </a:avLst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581144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シャワーの日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4535424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湯船に入れない日は、いつもより少し早めに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03720" y="1481328"/>
            <a:ext cx="4645152" cy="3977640"/>
          </a:xfrm>
          <a:prstGeom prst="roundRect">
            <a:avLst>
              <a:gd name="adj" fmla="val 206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23760" y="17556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なぜ90分前なのか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223760" y="2331720"/>
            <a:ext cx="4023360" cy="621792"/>
          </a:xfrm>
          <a:prstGeom prst="roundRect">
            <a:avLst>
              <a:gd name="adj" fmla="val 14706"/>
            </a:avLst>
          </a:prstGeom>
          <a:solidFill>
            <a:srgbClr val="3555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233172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お風呂で体温が上がる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006840" y="295351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93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23760" y="3200400"/>
            <a:ext cx="4023360" cy="621792"/>
          </a:xfrm>
          <a:prstGeom prst="roundRect">
            <a:avLst>
              <a:gd name="adj" fmla="val 14706"/>
            </a:avLst>
          </a:prstGeom>
          <a:solidFill>
            <a:srgbClr val="3555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320040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上がった体温が下がりはじめる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006840" y="382219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93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223760" y="4069080"/>
            <a:ext cx="4023360" cy="621792"/>
          </a:xfrm>
          <a:prstGeom prst="roundRect">
            <a:avLst>
              <a:gd name="adj" fmla="val 14706"/>
            </a:avLst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406908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下がるタイミングで眠くなる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223760" y="48920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熱すぎるお湯は、逆に交感神経を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刺激して目が冴えてしまいます。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614476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21時に寝かせたいなら、19時半にはお風呂から出ている計算になります。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 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睡眠 — 必要な時間は、大人と子どもで違います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3392424" cy="1417320"/>
          </a:xfrm>
          <a:prstGeom prst="roundRect">
            <a:avLst>
              <a:gd name="adj" fmla="val 580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9164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小学生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9〜11時間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398264" y="1481328"/>
            <a:ext cx="3392424" cy="1417320"/>
          </a:xfrm>
          <a:prstGeom prst="roundRect">
            <a:avLst>
              <a:gd name="adj" fmla="val 580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72584" y="169164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中学生・高校生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72584" y="2103120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77E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8〜10時間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8156448" y="1481328"/>
            <a:ext cx="3392424" cy="1417320"/>
          </a:xfrm>
          <a:prstGeom prst="roundRect">
            <a:avLst>
              <a:gd name="adj" fmla="val 580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30768" y="169164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 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30768" y="2103120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6〜7時間半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40080" y="3127248"/>
            <a:ext cx="5943600" cy="2331720"/>
          </a:xfrm>
          <a:prstGeom prst="roundRect">
            <a:avLst>
              <a:gd name="adj" fmla="val 3529"/>
            </a:avLst>
          </a:prstGeom>
          <a:solidFill>
            <a:srgbClr val="E3EFEA"/>
          </a:solidFill>
          <a:ln w="12700">
            <a:solidFill>
              <a:srgbClr val="E3EFEA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336499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8A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時間の確保とあわせて、この3つ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8404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起床直後に、しっかり光を浴びる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寝る前1時間は、スマホ・PC・ゲームを控える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好きな音楽やアロマでリラックスする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03720" y="3127248"/>
            <a:ext cx="4645152" cy="2331720"/>
          </a:xfrm>
          <a:prstGeom prst="roundRect">
            <a:avLst>
              <a:gd name="adj" fmla="val 352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23760" y="33649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6:45に起きるなら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23760" y="379476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小学生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66760" y="3794760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20:45 〜 21:45 就寝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223760" y="43616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中高生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66760" y="4361688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21:45 〜 22:45 就寝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23760" y="49377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FB4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逆算すると、夕食とお風呂の時間も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FB4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自然と決まってきます。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614476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子どもの睡眠時間は目安です。朝すっきり起きられているかを、いちばんの基準にしてください。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 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もう夜ふかしになっている場合の戻し方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266944" cy="3657600"/>
          </a:xfrm>
          <a:prstGeom prst="roundRect">
            <a:avLst>
              <a:gd name="adj" fmla="val 2250"/>
            </a:avLst>
          </a:prstGeom>
          <a:solidFill>
            <a:srgbClr val="E3EFEA"/>
          </a:solidFill>
          <a:ln w="12700">
            <a:solidFill>
              <a:srgbClr val="E3EFEA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755648"/>
            <a:ext cx="457200" cy="457200"/>
          </a:xfrm>
          <a:prstGeom prst="ellipse">
            <a:avLst/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17556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8A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やること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450592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起きる時間を、先に15分早める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072384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昼寝は15時まで・20〜30分だけ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694176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夕方に体を動かす（散歩でOK）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431596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朝は明るく、夜は暗く、を分ける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47688" y="1481328"/>
            <a:ext cx="5266944" cy="3657600"/>
          </a:xfrm>
          <a:prstGeom prst="roundRect">
            <a:avLst>
              <a:gd name="adj" fmla="val 2250"/>
            </a:avLst>
          </a:prstGeom>
          <a:solidFill>
            <a:srgbClr val="F8E7E4"/>
          </a:solidFill>
          <a:ln w="12700">
            <a:solidFill>
              <a:srgbClr val="F8E7E4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013448" y="1755648"/>
            <a:ext cx="457200" cy="457200"/>
          </a:xfrm>
          <a:prstGeom prst="ellipse">
            <a:avLst/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1344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607808" y="17556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やりがちなNG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13448" y="2450592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消灯だけ早くする（眠れず不安になる）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13448" y="3072384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昼寝を夕方までさせる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13448" y="3694176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夕方以降のカフェイン・エナジードリンク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13448" y="431596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寝坊した日だけ叱る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321808"/>
            <a:ext cx="10911535" cy="749808"/>
          </a:xfrm>
          <a:prstGeom prst="roundRect">
            <a:avLst>
              <a:gd name="adj" fmla="val 1097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97280" y="5321808"/>
            <a:ext cx="99971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眠くなる時間は、前の晩ではなく「その日の朝」に決まっています。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5. 胃腸と食材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食事面からもアプローチ — “胃腸整え隊”の5人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2057400" cy="32004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1874520"/>
            <a:ext cx="777240" cy="77724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874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白 湯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37033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内臓を直接あたためる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52928" y="1572768"/>
            <a:ext cx="2057400" cy="32004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93008" y="1874520"/>
            <a:ext cx="777240" cy="77724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08" y="1874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990088" y="28346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よく噛む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2990088" y="37033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胃腸の働きを助ける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65776" y="1572768"/>
            <a:ext cx="2057400" cy="32004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05856" y="1874520"/>
            <a:ext cx="777240" cy="77724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05856" y="1874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02936" y="28346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決まった時間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202936" y="37033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体内リズムが整う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78624" y="1572768"/>
            <a:ext cx="2057400" cy="32004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18704" y="1874520"/>
            <a:ext cx="777240" cy="777240"/>
          </a:xfrm>
          <a:prstGeom prst="ellipse">
            <a:avLst/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18704" y="1874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15784" y="28346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消化時間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415784" y="37033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重いものを避ける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491472" y="1572768"/>
            <a:ext cx="2057400" cy="32004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131552" y="1874520"/>
            <a:ext cx="777240" cy="777240"/>
          </a:xfrm>
          <a:prstGeom prst="ellipse">
            <a:avLst/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31552" y="1874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628632" y="28346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砂糖を控える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9628632" y="37033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血糖の波を小さく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074920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FBEAD6"/>
          </a:solidFill>
          <a:ln w="12700">
            <a:solidFill>
              <a:srgbClr val="FBEAD6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97280" y="5074920"/>
            <a:ext cx="99971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4E1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胃腸の働きも、自律神経がコントロールしています。整えると、食べたものがちゃんと栄養になります。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5. 胃腸と食材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白湯を飲む ／ よく噛む ／ 決まった時間に食べる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3392424" cy="3566160"/>
          </a:xfrm>
          <a:prstGeom prst="roundRect">
            <a:avLst>
              <a:gd name="adj" fmla="val 24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755648"/>
            <a:ext cx="2880360" cy="566928"/>
          </a:xfrm>
          <a:prstGeom prst="roundRect">
            <a:avLst>
              <a:gd name="adj" fmla="val 14516"/>
            </a:avLst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5564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白湯を飲む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2542032"/>
            <a:ext cx="28620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内臓を直接あたためられる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体が温まり、血流がよくなる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肩こりがラクになる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8264" y="1481328"/>
            <a:ext cx="3392424" cy="3566160"/>
          </a:xfrm>
          <a:prstGeom prst="roundRect">
            <a:avLst>
              <a:gd name="adj" fmla="val 24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54296" y="1755648"/>
            <a:ext cx="2880360" cy="566928"/>
          </a:xfrm>
          <a:prstGeom prst="roundRect">
            <a:avLst>
              <a:gd name="adj" fmla="val 14516"/>
            </a:avLst>
          </a:prstGeom>
          <a:solidFill>
            <a:srgbClr val="C77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54296" y="175564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よく噛んで楽しく食べる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72584" y="2542032"/>
            <a:ext cx="28620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胃腸の働きを助ける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脳が活性化する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虫歯予防・食べすぎ防止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56448" y="1481328"/>
            <a:ext cx="3392424" cy="3566160"/>
          </a:xfrm>
          <a:prstGeom prst="roundRect">
            <a:avLst>
              <a:gd name="adj" fmla="val 24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0" y="1755648"/>
            <a:ext cx="2880360" cy="566928"/>
          </a:xfrm>
          <a:prstGeom prst="roundRect">
            <a:avLst>
              <a:gd name="adj" fmla="val 14516"/>
            </a:avLst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75564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決まった時間に食べる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430768" y="2542032"/>
            <a:ext cx="28620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体内のリズムが整う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胃腸の調子が整いやすくなる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空腹と満腹がはっきりする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212080"/>
            <a:ext cx="10911535" cy="822960"/>
          </a:xfrm>
          <a:prstGeom prst="roundRect">
            <a:avLst>
              <a:gd name="adj" fmla="val 10000"/>
            </a:avLst>
          </a:prstGeom>
          <a:solidFill>
            <a:srgbClr val="E3EFEA"/>
          </a:solidFill>
          <a:ln w="12700">
            <a:solidFill>
              <a:srgbClr val="E3EFEA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97280" y="5212080"/>
            <a:ext cx="99971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5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まずは1つ。朝の白湯か、夕食を同じ時間にするか、どちらかから。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5. 胃腸と食材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消化時間に注目 ／ 砂糖を控える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6675120" cy="3977640"/>
          </a:xfrm>
          <a:prstGeom prst="roundRect">
            <a:avLst>
              <a:gd name="adj" fmla="val 206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71907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消化にかかる時間の目安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0120" y="2194560"/>
            <a:ext cx="60350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395728"/>
            <a:ext cx="1234440" cy="493776"/>
          </a:xfrm>
          <a:prstGeom prst="roundRect">
            <a:avLst>
              <a:gd name="adj" fmla="val 16667"/>
            </a:avLst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395728"/>
            <a:ext cx="1234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約1〜2時間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468880" y="22860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8A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すぐおなかがすく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468880" y="26334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おかゆ・りんご・半熟卵・少量のごはん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60120" y="3246120"/>
            <a:ext cx="60350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3447288"/>
            <a:ext cx="1234440" cy="493776"/>
          </a:xfrm>
          <a:prstGeom prst="roundRect">
            <a:avLst>
              <a:gd name="adj" fmla="val 16667"/>
            </a:avLst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447288"/>
            <a:ext cx="1234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約2〜3時間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468880" y="333756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ふつう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468880" y="36850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牛乳・豆腐・煮魚・刺身・うどん・もち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60120" y="4297680"/>
            <a:ext cx="60350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4498848"/>
            <a:ext cx="1234440" cy="493776"/>
          </a:xfrm>
          <a:prstGeom prst="roundRect">
            <a:avLst>
              <a:gd name="adj" fmla="val 16667"/>
            </a:avLst>
          </a:prstGeom>
          <a:solidFill>
            <a:srgbClr val="B454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498848"/>
            <a:ext cx="1234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約3〜4時間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468880" y="438912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はらもちがいい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468880" y="47365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やきいも・アイスクリーム・脂の多い魚や肉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635240" y="1481328"/>
            <a:ext cx="3913632" cy="3977640"/>
          </a:xfrm>
          <a:prstGeom prst="roundRect">
            <a:avLst>
              <a:gd name="adj" fmla="val 2103"/>
            </a:avLst>
          </a:prstGeom>
          <a:solidFill>
            <a:srgbClr val="F8E7E4"/>
          </a:solidFill>
          <a:ln w="12700">
            <a:solidFill>
              <a:srgbClr val="F8E7E4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955280" y="17556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砂糖を控える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001000" y="228600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消化の負担が増える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血糖値が急に上がって下がる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腸内環境が乱れる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そのぶん栄養が不足する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955280" y="4315968"/>
            <a:ext cx="32918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4C3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431596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胃腸だけでなく、</a:t>
            </a:r>
            <a:endParaRPr lang="en-US" sz="13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B454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全身に影響します。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0080" y="614476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夜おそくなった日は「約1〜2時間」のものを選ぶと、翌朝の食欲が残ります。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5. 胃腸と食材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旬の食材を食べる — これからの季節におすすめ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4846320" cy="640080"/>
          </a:xfrm>
          <a:prstGeom prst="roundRect">
            <a:avLst>
              <a:gd name="adj" fmla="val 128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36776"/>
            <a:ext cx="438912" cy="43891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367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81328" y="153619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栄養価が高い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313432"/>
            <a:ext cx="4846320" cy="640080"/>
          </a:xfrm>
          <a:prstGeom prst="roundRect">
            <a:avLst>
              <a:gd name="adj" fmla="val 128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414016"/>
            <a:ext cx="438912" cy="438912"/>
          </a:xfrm>
          <a:prstGeom prst="ellipse">
            <a:avLst/>
          </a:prstGeom>
          <a:solidFill>
            <a:srgbClr val="C77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4140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81328" y="231343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美味しさが増す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090672"/>
            <a:ext cx="4846320" cy="640080"/>
          </a:xfrm>
          <a:prstGeom prst="roundRect">
            <a:avLst>
              <a:gd name="adj" fmla="val 128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191256"/>
            <a:ext cx="438912" cy="438912"/>
          </a:xfrm>
          <a:prstGeom prst="ellipse">
            <a:avLst/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1912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81328" y="309067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価格が安くなる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867912"/>
            <a:ext cx="4846320" cy="640080"/>
          </a:xfrm>
          <a:prstGeom prst="roundRect">
            <a:avLst>
              <a:gd name="adj" fmla="val 128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3968496"/>
            <a:ext cx="438912" cy="43891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9684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81328" y="386791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その季節に必要な栄養素が摂れる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806440" y="1536192"/>
            <a:ext cx="5742432" cy="3035808"/>
          </a:xfrm>
          <a:prstGeom prst="roundRect">
            <a:avLst>
              <a:gd name="adj" fmla="val 271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2648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これからが旬の食材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126480" y="2286000"/>
            <a:ext cx="841248" cy="347472"/>
          </a:xfrm>
          <a:prstGeom prst="roundRect">
            <a:avLst>
              <a:gd name="adj" fmla="val 18421"/>
            </a:avLst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2286000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魚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086600" y="22860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秋刀魚・鮭・いわし・さば・かつお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0" y="2724912"/>
            <a:ext cx="841248" cy="347472"/>
          </a:xfrm>
          <a:prstGeom prst="roundRect">
            <a:avLst>
              <a:gd name="adj" fmla="val 18421"/>
            </a:avLst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2724912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野菜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086600" y="27249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かぼちゃ・れんこん・青梗菜・人参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126480" y="3163824"/>
            <a:ext cx="841248" cy="347472"/>
          </a:xfrm>
          <a:prstGeom prst="roundRect">
            <a:avLst>
              <a:gd name="adj" fmla="val 18421"/>
            </a:avLst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3163824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きのこ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086600" y="316382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生椎茸・舞茸・しめじ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126480" y="3602736"/>
            <a:ext cx="841248" cy="347472"/>
          </a:xfrm>
          <a:prstGeom prst="roundRect">
            <a:avLst>
              <a:gd name="adj" fmla="val 18421"/>
            </a:avLst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3602736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いも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086600" y="36027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さつま芋・長芋・里芋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126480" y="4041648"/>
            <a:ext cx="841248" cy="347472"/>
          </a:xfrm>
          <a:prstGeom prst="roundRect">
            <a:avLst>
              <a:gd name="adj" fmla="val 18421"/>
            </a:avLst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4041648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果物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086600" y="404164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梨・柿・栗・いちじく・ぶどう・りんご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40080" y="4709160"/>
            <a:ext cx="10911535" cy="1234440"/>
          </a:xfrm>
          <a:prstGeom prst="roundRect">
            <a:avLst>
              <a:gd name="adj" fmla="val 6667"/>
            </a:avLst>
          </a:prstGeom>
          <a:solidFill>
            <a:srgbClr val="E3EFEA"/>
          </a:solidFill>
          <a:ln w="12700">
            <a:solidFill>
              <a:srgbClr val="E3EFEA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097280" y="4846320"/>
            <a:ext cx="9997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5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秋野菜には、夏の疲労を回復して体を温める働きがあります。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97280" y="5285232"/>
            <a:ext cx="9997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5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とくに根菜は夏野菜より水分が少なく、加熱すると甘みが増します。冷たいものを摂りすぎて弱った胃腸の回復や、便秘の解消にも。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5. 胃腸と食材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これから起こりやすい症状 × おすすめの食材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2624328" cy="3291840"/>
          </a:xfrm>
          <a:prstGeom prst="roundRect">
            <a:avLst>
              <a:gd name="adj" fmla="val 313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755648"/>
            <a:ext cx="2185416" cy="548640"/>
          </a:xfrm>
          <a:prstGeom prst="roundRect">
            <a:avLst>
              <a:gd name="adj" fmla="val 15000"/>
            </a:avLst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755648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風邪から守る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2514600"/>
            <a:ext cx="207568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14600"/>
            <a:ext cx="2075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さつまいも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172968"/>
            <a:ext cx="207568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72968"/>
            <a:ext cx="2075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きのこ類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3831336"/>
            <a:ext cx="207568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831336"/>
            <a:ext cx="2075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かぼちゃ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552444" y="1481328"/>
            <a:ext cx="2624328" cy="3291840"/>
          </a:xfrm>
          <a:prstGeom prst="roundRect">
            <a:avLst>
              <a:gd name="adj" fmla="val 313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71900" y="1755648"/>
            <a:ext cx="2185416" cy="548640"/>
          </a:xfrm>
          <a:prstGeom prst="roundRect">
            <a:avLst>
              <a:gd name="adj" fmla="val 15000"/>
            </a:avLst>
          </a:prstGeom>
          <a:solidFill>
            <a:srgbClr val="C77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71900" y="1755648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花粉症・喘息に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826764" y="2514600"/>
            <a:ext cx="207568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26764" y="2514600"/>
            <a:ext cx="2075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れんこん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826764" y="3172968"/>
            <a:ext cx="207568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26764" y="3172968"/>
            <a:ext cx="2075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梨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826764" y="3831336"/>
            <a:ext cx="207568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26764" y="3831336"/>
            <a:ext cx="2075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ぎんなん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64808" y="1481328"/>
            <a:ext cx="2624328" cy="3291840"/>
          </a:xfrm>
          <a:prstGeom prst="roundRect">
            <a:avLst>
              <a:gd name="adj" fmla="val 313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84264" y="1755648"/>
            <a:ext cx="2185416" cy="548640"/>
          </a:xfrm>
          <a:prstGeom prst="roundRect">
            <a:avLst>
              <a:gd name="adj" fmla="val 15000"/>
            </a:avLst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84264" y="1755648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夏の疲れを癒やす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739128" y="2514600"/>
            <a:ext cx="207568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39128" y="2514600"/>
            <a:ext cx="2075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秋刀魚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739128" y="3172968"/>
            <a:ext cx="207568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39128" y="3172968"/>
            <a:ext cx="2075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里芋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739128" y="3831336"/>
            <a:ext cx="207568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39128" y="3831336"/>
            <a:ext cx="2075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かつお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377172" y="1481328"/>
            <a:ext cx="2624328" cy="3291840"/>
          </a:xfrm>
          <a:prstGeom prst="roundRect">
            <a:avLst>
              <a:gd name="adj" fmla="val 313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96628" y="1755648"/>
            <a:ext cx="2185416" cy="54864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96628" y="1755648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乾燥からお肌を守る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9651492" y="2514600"/>
            <a:ext cx="207568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51492" y="2514600"/>
            <a:ext cx="2075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栗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651492" y="3172968"/>
            <a:ext cx="207568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51492" y="3172968"/>
            <a:ext cx="2075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柿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9651492" y="3831336"/>
            <a:ext cx="207568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51492" y="3831336"/>
            <a:ext cx="2075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カリフラワー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40080" y="4956048"/>
            <a:ext cx="10911535" cy="960120"/>
          </a:xfrm>
          <a:prstGeom prst="roundRect">
            <a:avLst>
              <a:gd name="adj" fmla="val 8571"/>
            </a:avLst>
          </a:prstGeom>
          <a:solidFill>
            <a:srgbClr val="FBEAD6"/>
          </a:solidFill>
          <a:ln w="12700">
            <a:solidFill>
              <a:srgbClr val="FBEAD6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097280" y="4956048"/>
            <a:ext cx="99971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4E1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ビタミンC・B1・B2・K、そして食物繊維。秋の食材にまとめて入っています。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5. 胃腸と食材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買っておくだけ — 助かる「常備リスト」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3392424" cy="3657600"/>
          </a:xfrm>
          <a:prstGeom prst="roundRect">
            <a:avLst>
              <a:gd name="adj" fmla="val 24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755648"/>
            <a:ext cx="2880360" cy="548640"/>
          </a:xfrm>
          <a:prstGeom prst="roundRect">
            <a:avLst>
              <a:gd name="adj" fmla="val 15000"/>
            </a:avLst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5564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冷蔵庫に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450592"/>
            <a:ext cx="2843784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450592"/>
            <a:ext cx="2624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卵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2971800"/>
            <a:ext cx="2843784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971800"/>
            <a:ext cx="2624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納豆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3493008"/>
            <a:ext cx="2843784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3493008"/>
            <a:ext cx="2624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豆腐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4014216"/>
            <a:ext cx="2843784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4014216"/>
            <a:ext cx="2624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チーズ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4535424"/>
            <a:ext cx="2843784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4535424"/>
            <a:ext cx="2624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ヨーグルト・牛乳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98264" y="1481328"/>
            <a:ext cx="3392424" cy="3657600"/>
          </a:xfrm>
          <a:prstGeom prst="roundRect">
            <a:avLst>
              <a:gd name="adj" fmla="val 24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54296" y="1755648"/>
            <a:ext cx="2880360" cy="548640"/>
          </a:xfrm>
          <a:prstGeom prst="roundRect">
            <a:avLst>
              <a:gd name="adj" fmla="val 15000"/>
            </a:avLst>
          </a:prstGeom>
          <a:solidFill>
            <a:srgbClr val="C77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54296" y="175564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冷凍庫に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672584" y="2450592"/>
            <a:ext cx="2843784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2312" y="2450592"/>
            <a:ext cx="2624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カットほうれん草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672584" y="2971800"/>
            <a:ext cx="2843784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2971800"/>
            <a:ext cx="2624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冷凍ブロッコリー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672584" y="3493008"/>
            <a:ext cx="2843784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82312" y="3493008"/>
            <a:ext cx="2624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冷凍うどん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672584" y="4014216"/>
            <a:ext cx="2843784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82312" y="4014216"/>
            <a:ext cx="2624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しらす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672584" y="4535424"/>
            <a:ext cx="2843784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82312" y="4535424"/>
            <a:ext cx="2624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ミックスベジタブル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156448" y="1481328"/>
            <a:ext cx="3392424" cy="3657600"/>
          </a:xfrm>
          <a:prstGeom prst="roundRect">
            <a:avLst>
              <a:gd name="adj" fmla="val 24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12480" y="1755648"/>
            <a:ext cx="2880360" cy="548640"/>
          </a:xfrm>
          <a:prstGeom prst="roundRect">
            <a:avLst>
              <a:gd name="adj" fmla="val 15000"/>
            </a:avLst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0" y="175564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常温で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430768" y="2450592"/>
            <a:ext cx="2843784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40496" y="2450592"/>
            <a:ext cx="2624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ツナ缶・さば缶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430768" y="2971800"/>
            <a:ext cx="2843784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40496" y="2971800"/>
            <a:ext cx="2624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のり・ふりかけ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430768" y="3493008"/>
            <a:ext cx="2843784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40496" y="3493008"/>
            <a:ext cx="2624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乾燥わかめ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8430768" y="4014216"/>
            <a:ext cx="2843784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40496" y="4014216"/>
            <a:ext cx="2624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即席みそ汁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8430768" y="4535424"/>
            <a:ext cx="2843784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40496" y="4535424"/>
            <a:ext cx="2624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バナナ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5321808"/>
            <a:ext cx="10911535" cy="777240"/>
          </a:xfrm>
          <a:prstGeom prst="roundRect">
            <a:avLst>
              <a:gd name="adj" fmla="val 10588"/>
            </a:avLst>
          </a:prstGeom>
          <a:solidFill>
            <a:srgbClr val="E3EFEA"/>
          </a:solidFill>
          <a:ln w="12700">
            <a:solidFill>
              <a:srgbClr val="E3EFEA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097280" y="5321808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5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前回の「12種類の食材と2種類のたんぱく質」は、これを買っておくことから始まります。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0080" y="614476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全部そろえなくて大丈夫。冷蔵庫の1段を「足すもの置き場」にするだけで、朝の手が動きます。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6. 再開前の準備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逆算カレンダー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2624328" cy="3611880"/>
          </a:xfrm>
          <a:prstGeom prst="roundRect">
            <a:avLst>
              <a:gd name="adj" fmla="val 313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755648"/>
            <a:ext cx="2112264" cy="502920"/>
          </a:xfrm>
          <a:prstGeom prst="roundRect">
            <a:avLst>
              <a:gd name="adj" fmla="val 16364"/>
            </a:avLst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55648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1週間前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77824" y="2487168"/>
            <a:ext cx="218541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起床時刻をほぼ通常に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宿題の残りを数える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夕食を30分早める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土日も同じ時間で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52444" y="1481328"/>
            <a:ext cx="2624328" cy="3611880"/>
          </a:xfrm>
          <a:prstGeom prst="roundRect">
            <a:avLst>
              <a:gd name="adj" fmla="val 313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08476" y="1755648"/>
            <a:ext cx="2112264" cy="502920"/>
          </a:xfrm>
          <a:prstGeom prst="roundRect">
            <a:avLst>
              <a:gd name="adj" fmla="val 16364"/>
            </a:avLst>
          </a:prstGeom>
          <a:solidFill>
            <a:srgbClr val="C77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08476" y="1755648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3日前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90188" y="2487168"/>
            <a:ext cx="218541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提出物・持ち物の確認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上履き・体操服の確認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通学路を1度歩く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髪と爪を切る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64808" y="1481328"/>
            <a:ext cx="2624328" cy="3611880"/>
          </a:xfrm>
          <a:prstGeom prst="roundRect">
            <a:avLst>
              <a:gd name="adj" fmla="val 313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20840" y="1755648"/>
            <a:ext cx="2112264" cy="502920"/>
          </a:xfrm>
          <a:prstGeom prst="roundRect">
            <a:avLst>
              <a:gd name="adj" fmla="val 16364"/>
            </a:avLst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1755648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02552" y="2487168"/>
            <a:ext cx="218541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夕食とお風呂を早めに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支度を玄関に置く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期待を言いすぎない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早めに部屋を暗く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377172" y="1481328"/>
            <a:ext cx="2624328" cy="3611880"/>
          </a:xfrm>
          <a:prstGeom prst="roundRect">
            <a:avLst>
              <a:gd name="adj" fmla="val 313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33204" y="1755648"/>
            <a:ext cx="2112264" cy="502920"/>
          </a:xfrm>
          <a:prstGeom prst="roundRect">
            <a:avLst>
              <a:gd name="adj" fmla="val 16364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33204" y="1755648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当日の朝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14916" y="2487168"/>
            <a:ext cx="218541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10分早く起こす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食べやすい朝ごはん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送り出しは短く明るく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予定を詰め込まない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349240"/>
            <a:ext cx="10911535" cy="822960"/>
          </a:xfrm>
          <a:prstGeom prst="roundRect">
            <a:avLst>
              <a:gd name="adj" fmla="val 10000"/>
            </a:avLst>
          </a:prstGeom>
          <a:solidFill>
            <a:srgbClr val="FBEAD6"/>
          </a:solidFill>
          <a:ln w="12700">
            <a:solidFill>
              <a:srgbClr val="FBEAD6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97280" y="5349240"/>
            <a:ext cx="99971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A4E1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全部やらなくて大丈夫。各列から1つずつ選ぶくらいで十分です。</a:t>
            </a:r>
            <a:endParaRPr lang="en-US" sz="15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7. スタート作戦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ワーク：わが家の「2学期スタート作戦」を3つ決める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3392424" cy="3794760"/>
          </a:xfrm>
          <a:prstGeom prst="roundRect">
            <a:avLst>
              <a:gd name="adj" fmla="val 24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755648"/>
            <a:ext cx="548640" cy="54864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55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27632" y="175564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起きる時間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468880"/>
            <a:ext cx="2752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家族で1つに。土日もそろえられると、いちばんラクになります。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60120" y="3493008"/>
            <a:ext cx="2752344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493008"/>
            <a:ext cx="256946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3555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＿＿ 時 ＿＿ 分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98264" y="1481328"/>
            <a:ext cx="3392424" cy="3794760"/>
          </a:xfrm>
          <a:prstGeom prst="roundRect">
            <a:avLst>
              <a:gd name="adj" fmla="val 24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18304" y="1755648"/>
            <a:ext cx="548640" cy="548640"/>
          </a:xfrm>
          <a:prstGeom prst="ellipse">
            <a:avLst/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1755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85816" y="175564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朝ごはんの定番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18304" y="2468880"/>
            <a:ext cx="2752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3つ決めて、まわします。考えなくていい状態にするのが目的です。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18304" y="3493008"/>
            <a:ext cx="2752344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3493008"/>
            <a:ext cx="256946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3555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＿＿＿＿＿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3555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＿＿＿＿＿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3555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＿＿＿＿＿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56448" y="1481328"/>
            <a:ext cx="3392424" cy="3794760"/>
          </a:xfrm>
          <a:prstGeom prst="roundRect">
            <a:avLst>
              <a:gd name="adj" fmla="val 24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76488" y="1755648"/>
            <a:ext cx="548640" cy="5486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76488" y="1755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0" y="175564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夜のスイッチ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76488" y="2468880"/>
            <a:ext cx="2752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お風呂の時間／照明を落とす時間／スマホの置き場から、1つだけ。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476488" y="3493008"/>
            <a:ext cx="2752344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67928" y="3493008"/>
            <a:ext cx="256946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35557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＿＿＿＿＿＿＿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5440680"/>
            <a:ext cx="10911535" cy="749808"/>
          </a:xfrm>
          <a:prstGeom prst="roundRect">
            <a:avLst>
              <a:gd name="adj" fmla="val 10976"/>
            </a:avLst>
          </a:prstGeom>
          <a:solidFill>
            <a:srgbClr val="FBEAD6"/>
          </a:solidFill>
          <a:ln w="12700">
            <a:solidFill>
              <a:srgbClr val="FBEAD6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97280" y="5440680"/>
            <a:ext cx="99971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4E1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決めるのは3つだけ。多いほど、続きません。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7. スタート作戦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続けるための4つのコツ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5266944" cy="1737360"/>
          </a:xfrm>
          <a:prstGeom prst="roundRect">
            <a:avLst>
              <a:gd name="adj" fmla="val 473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7552" y="1847088"/>
            <a:ext cx="658368" cy="65836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8470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847088" y="1810512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全部やらない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47088" y="2286000"/>
            <a:ext cx="3712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今日決めた3つ以外は、9月に入ってから。増やすのはいつでもできます。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81928" y="1536192"/>
            <a:ext cx="5266944" cy="1737360"/>
          </a:xfrm>
          <a:prstGeom prst="roundRect">
            <a:avLst>
              <a:gd name="adj" fmla="val 473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1847088"/>
            <a:ext cx="658368" cy="658368"/>
          </a:xfrm>
          <a:prstGeom prst="ellipse">
            <a:avLst/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18470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488936" y="1810512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3日できたら合格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88936" y="2286000"/>
            <a:ext cx="3712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7日連続を目標にすると、4日目に折れます。3日単位で数えてください。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502152"/>
            <a:ext cx="5266944" cy="1737360"/>
          </a:xfrm>
          <a:prstGeom prst="roundRect">
            <a:avLst>
              <a:gd name="adj" fmla="val 473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87552" y="3813048"/>
            <a:ext cx="658368" cy="65836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3813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847088" y="3776472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例外日を決めておく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47088" y="4251960"/>
            <a:ext cx="3712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花火、帰省、お泊まり。「この日は崩れる」と決めておけば、翌日に戻れます。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81928" y="3502152"/>
            <a:ext cx="5266944" cy="1737360"/>
          </a:xfrm>
          <a:prstGeom prst="roundRect">
            <a:avLst>
              <a:gd name="adj" fmla="val 473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3813048"/>
            <a:ext cx="658368" cy="658368"/>
          </a:xfrm>
          <a:prstGeom prst="ellipse">
            <a:avLst/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3813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488936" y="3776472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子どもに選ばせる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88936" y="4251960"/>
            <a:ext cx="3712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選択肢は親が2つ出す。決めるのは本人。決めた人が、いちばん動きます。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577840"/>
            <a:ext cx="10911535" cy="777240"/>
          </a:xfrm>
          <a:prstGeom prst="roundRect">
            <a:avLst>
              <a:gd name="adj" fmla="val 10588"/>
            </a:avLst>
          </a:prstGeom>
          <a:solidFill>
            <a:srgbClr val="E3EFEA"/>
          </a:solidFill>
          <a:ln w="12700">
            <a:solidFill>
              <a:srgbClr val="E3EFEA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97280" y="5577840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5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うまくいかない日があって当たり前です。戻れることのほうが、ずっと大事。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3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今日の3つの持ち帰り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11535" cy="1115568"/>
          </a:xfrm>
          <a:prstGeom prst="roundRect">
            <a:avLst>
              <a:gd name="adj" fmla="val 7377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19656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011680" y="178308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夜より先に、朝を動かす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011680" y="222199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4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眠くなる時間は、その日の朝に決まります。起床を15分ずつ前へ。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98648"/>
            <a:ext cx="10911535" cy="1115568"/>
          </a:xfrm>
          <a:prstGeom prst="roundRect">
            <a:avLst>
              <a:gd name="adj" fmla="val 7377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118104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011680" y="308152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食事は「単品にしない」だけで変わる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011680" y="352044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4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パンだけ・麺だけをやめて、1つ足す。それで午前中がもちます。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197096"/>
            <a:ext cx="10911535" cy="1115568"/>
          </a:xfrm>
          <a:prstGeom prst="roundRect">
            <a:avLst>
              <a:gd name="adj" fmla="val 7377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416552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011680" y="4379976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決めるのは3つ。完璧より、わが家の型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011680" y="4818888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4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起きる時間・朝ごはんの定番・夜のスイッチ。まずはこの3つだけ。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7150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2学期の朝が、少しだけラクになりますように。</a:t>
            </a:r>
            <a:endParaRPr lang="en-US" sz="17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いきなりギアチェンジをしないでください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8092440" cy="1207008"/>
          </a:xfrm>
          <a:prstGeom prst="roundRect">
            <a:avLst>
              <a:gd name="adj" fmla="val 681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" y="1856232"/>
            <a:ext cx="566928" cy="56692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856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91640" y="17373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季節の変わり目は、体に大きな負担がかかります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91640" y="217627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夏から秋へ切り替わるこの時期は、大人も子どもも消耗しています。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53512"/>
            <a:ext cx="8092440" cy="1207008"/>
          </a:xfrm>
          <a:prstGeom prst="roundRect">
            <a:avLst>
              <a:gd name="adj" fmla="val 681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41832" y="3273552"/>
            <a:ext cx="566928" cy="566928"/>
          </a:xfrm>
          <a:prstGeom prst="ellipse">
            <a:avLst/>
          </a:prstGeom>
          <a:solidFill>
            <a:srgbClr val="C77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32735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91640" y="31546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今年も夏の暑さが厳しかったことが、これからの不調につながります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691640" y="359359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今の疲れは、9月・10月になってから体と心に出てきます。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370832"/>
            <a:ext cx="8092440" cy="1207008"/>
          </a:xfrm>
          <a:prstGeom prst="roundRect">
            <a:avLst>
              <a:gd name="adj" fmla="val 681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1832" y="4690872"/>
            <a:ext cx="566928" cy="566928"/>
          </a:xfrm>
          <a:prstGeom prst="ellipse">
            <a:avLst/>
          </a:prstGeom>
          <a:solidFill>
            <a:srgbClr val="3F8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46908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91640" y="45720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体に合わせて、ゆっくりと秋へシフトしてください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691640" y="501091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一気に戻すのではなく、今日から少しずつ。それがいちばんの近道です。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06840" y="1536192"/>
            <a:ext cx="2542032" cy="4224528"/>
          </a:xfrm>
          <a:prstGeom prst="roundRect">
            <a:avLst>
              <a:gd name="adj" fmla="val 323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281160" y="19202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急がなくて</a:t>
            </a:r>
            <a:endParaRPr lang="en-US" sz="2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大丈夫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281160" y="3108960"/>
            <a:ext cx="2011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今日決めた3つを、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明日の朝から。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1つできれば、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それで十分です。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ご家族のペースで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進めてください。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INFORMATION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最後におしらせ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3392424" cy="329184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828800"/>
            <a:ext cx="566928" cy="56692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828800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次回のご案内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0120" y="2651760"/>
            <a:ext cx="275234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651760"/>
            <a:ext cx="256946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AA9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日時・テーマ・お申し込み方法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98264" y="1536192"/>
            <a:ext cx="3392424" cy="329184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18304" y="1828800"/>
            <a:ext cx="566928" cy="56692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04104" y="1828800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個別のご相談について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18304" y="2651760"/>
            <a:ext cx="275234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9744" y="2651760"/>
            <a:ext cx="256946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AA9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受付方法・料金・お問い合わせ先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56448" y="1536192"/>
            <a:ext cx="3392424" cy="329184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76488" y="1828800"/>
            <a:ext cx="566928" cy="56692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76488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62288" y="1828800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ふだんの発信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476488" y="2651760"/>
            <a:ext cx="275234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3D0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67928" y="2651760"/>
            <a:ext cx="256946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AA9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SNS・ブログなど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029200"/>
            <a:ext cx="10911535" cy="822960"/>
          </a:xfrm>
          <a:prstGeom prst="roundRect">
            <a:avLst>
              <a:gd name="adj" fmla="val 10000"/>
            </a:avLst>
          </a:prstGeom>
          <a:solidFill>
            <a:srgbClr val="E3EFEA"/>
          </a:solidFill>
          <a:ln w="12700">
            <a:solidFill>
              <a:srgbClr val="E3EFEA"/>
            </a:solidFill>
            <a:prstDash val="solid"/>
          </a:ln>
          <a:effectLst>
            <a:outerShdw sx="100000" sy="100000" kx="0" ky="0" algn="bl" rotWithShape="0" blurRad="127000" dist="25400" dir="5400000">
              <a:srgbClr val="1E3A5F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97280" y="5029200"/>
            <a:ext cx="99971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5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ここは当日の告知内容にあわせて書き換えてお使いください。</a:t>
            </a:r>
            <a:endParaRPr lang="en-US" sz="15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3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737360"/>
            <a:ext cx="5394960" cy="53949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880360"/>
            <a:ext cx="3108960" cy="310896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965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 &amp; 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ご質問をどうぞ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チャットでも、お声でも大丈夫です。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D6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「うちの場合はどうしたら」が、いちばん役に立ちます。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434840"/>
            <a:ext cx="6766560" cy="1005840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443484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今日決めた3つを、明日の朝から。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まずは「起きる時間」ひとつで大丈夫です。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5623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4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ご参加ありがとうございました。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夏休みの終わり 〜食と生活リズムの整え方〜 第2回</dc:title>
  <dc:subject>PptxGenJS Presentation</dc:subject>
  <dc:creator>髙落まどか</dc:creator>
  <cp:lastModifiedBy>髙落まどか</cp:lastModifiedBy>
  <cp:revision>1</cp:revision>
  <dcterms:created xsi:type="dcterms:W3CDTF">2026-08-14T08:00:46Z</dcterms:created>
  <dcterms:modified xsi:type="dcterms:W3CDTF">2026-08-14T08:00:46Z</dcterms:modified>
</cp:coreProperties>
</file>
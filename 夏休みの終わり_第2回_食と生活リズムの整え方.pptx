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菓子パン・ジュースだけ</c:v>
                </c:pt>
              </c:strCache>
            </c:strRef>
          </c:tx>
          <c:spPr>
            <a:solidFill>
              <a:srgbClr val="D9822B"/>
            </a:solidFill>
            <a:ln w="50800" cap="flat">
              <a:solidFill>
                <a:srgbClr val="D982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822B"/>
              </a:solidFill>
              <a:ln w="9525" cap="flat">
                <a:solidFill>
                  <a:srgbClr val="D982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朝食前</c:v>
                  </c:pt>
                  <c:pt idx="1">
                    <c:v>食べた直後</c:v>
                  </c:pt>
                  <c:pt idx="2">
                    <c:v>1〜2時間後</c:v>
                  </c:pt>
                  <c:pt idx="3">
                    <c:v>午前なかば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95</c:v>
                </c:pt>
                <c:pt idx="1">
                  <c:v>168</c:v>
                </c:pt>
                <c:pt idx="2">
                  <c:v>74</c:v>
                </c:pt>
                <c:pt idx="3">
                  <c:v>82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ごはん＋卵＋みそ汁</c:v>
                </c:pt>
              </c:strCache>
            </c:strRef>
          </c:tx>
          <c:spPr>
            <a:solidFill>
              <a:srgbClr val="3F8A72"/>
            </a:solidFill>
            <a:ln w="50800" cap="flat">
              <a:solidFill>
                <a:srgbClr val="3F8A7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F8A72"/>
              </a:solidFill>
              <a:ln w="9525" cap="flat">
                <a:solidFill>
                  <a:srgbClr val="3F8A7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朝食前</c:v>
                  </c:pt>
                  <c:pt idx="1">
                    <c:v>食べた直後</c:v>
                  </c:pt>
                  <c:pt idx="2">
                    <c:v>1〜2時間後</c:v>
                  </c:pt>
                  <c:pt idx="3">
                    <c:v>午前なかば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95</c:v>
                </c:pt>
                <c:pt idx="1">
                  <c:v>126</c:v>
                </c:pt>
                <c:pt idx="2">
                  <c:v>112</c:v>
                </c:pt>
                <c:pt idx="3">
                  <c:v>102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E80"/>
                </a:solidFill>
                <a:latin typeface="Meiry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0"/>
          <c:min val="60"/>
        </c:scaling>
        <c:delete val="1"/>
        <c:axPos val="l"/>
        <c:majorGridlines>
          <c:spPr>
            <a:ln w="12700" cap="flat">
              <a:solidFill>
                <a:srgbClr val="EDF2F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E80"/>
                </a:solidFill>
                <a:latin typeface="Meiry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E3A5F"/>
              </a:solidFill>
              <a:latin typeface="Meiryo"/>
              <a:cs typeface="Meiry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開始のあいさつ。今日は第2回。前回は「食事の考え方」、今回はそれを2学期に向けた一日の流れに落とし込みます。
21:30スタート、23:00終了。途中でチャットに書き込んでいただいてOKであることを伝える。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自己紹介は1〜2分で。初参加の方に向けて、どんな立場で話しているかだけ伝われば十分。
右のカードは当日の内容に差し替えて使う。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ゴールと流れを一緒に見せる。ワークが後半にあることをここで予告しておくと、聞き方が変わる。
「知識を増やす会ではなく、決める会です」と一言添える。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前回の内容を3点だけ短く復習。3分程度で。
第1回のキーワード（崩れる前提／主食＋たんぱく質＋色／まず光）をそのまま使い、今日はその「戻し方」だと位置づける。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共感パート。チャットで「いくつ当てはまりましたか？」と聞くと参加感が出る。
大人側にもチェックがあることが今回のポイント。親が疲れていると、子どもの生活リズムは戻せない。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「秋バテ」という言葉を知らない方が多いので、ここで丁寧に。
2学期に崩れるのは9月の問題ではなく、8月にたまった疲れが原因、という因果をつなげる。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3つのうちどれが当てはまりそうか、チャットで聞いてもいい。
次のスライドで「胃腸疲れ」を掘り下げるので、2番につなげる言い方をしておく。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腸脳相関の話。断定しすぎないこと。
「腸のセロトニンがそのまま脳に届く」という言い方は正確ではないので避ける。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「気合が足りない」ではなく、自律神経の切り替えの問題として説明する。
ここが朝・昼・夜の3章につながる導入になる。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今日の中心メッセージ。ここは時間をかけてゆっくり話す。
「夜は結果、朝が原因」という言い方を繰り返す。この後の3章すべてがここに戻る。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ここから15分。朝パート。「一日は朝で決まる」を宣言してから入る。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3ステップの順番を強調。特に「朝ごはんから始めない」こと。
起床時刻が決まっていないのに朝食を頑張ると、必ず食卓でもめる。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実際に手元のカレンダーに書き込んでもらう。
土日をそろえるのが一番の山場。ここで崩れると月曜が元に戻る。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第1回で「主食＋たんぱく質＋色」をやっているので、新しい型は出さない。
朝は「色」まで届かなくていい、と先に許可を出すのがポイント。下段は、それも無理な日の逃げ道。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前回資料ではビタミンB1と書かれていたが、トリプトファンからセロトニンをつくるのを助けるのはビタミンB6。
「覚えなくていいので、バナナ＋牛乳、ごはん＋納豆だけ覚えて帰ってください」と締める。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いちばん実践しやすいスライド。ここは具体名をどんどん出す。
「調理しない」ことがポイント。買っておけば、朝は手を動かすだけで済む。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ここから13分。昼パート。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医療的な診断ではないことを必ず明言する。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図はイメージであることを口頭でも言う。キーワードは「単品にしない」。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糖質・ジュースは第1回でやっているので、ここはカフェインに絞る。
夏休みは自由に飲めてしまうので、2学期前に「時間の約束」を決め直す話としてつなげる。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重い話が続いたあとの、軽くなるスライド。
「ながら食べ」は夏休みに増えがちなので、そこに触れると刺さる。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「食べない」に悩む保護者は多い。受診の目安を具体的に示すことで、抱え込みを防ぐ。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ここから13分。夜パート。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夜と朝がつながっていることを示すスライド。「朝食べない」の原因が夕食にあることは多い。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「なぜ90分前か」を体温の話で説明すると納得感が出る。
熱いお湯が好きな家庭は多いので、38〜39度という具体的な数字を出す。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大人の6〜7時間半をそのまま子どもに当てはめている家庭が多い。ここを分けて伝えるのが今回の追加ポイント。
逆算表を見せると「うちは無理」という声が出るので、まずは15分ずつ、と受け止める。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5つを一気に見せて、次の2枚で中身に入る。全部やらなくていいことを先に言っておく。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3つ全部やろうとすると続かない。1つ選ばせる言い方をする。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消化時間は、夕食が遅くなった日の選び方に直結する実用的な話。
アイスクリームが3時間以上かかるのは意外に思われるので、そこを拾うと反応がいい。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ここは言い切る。「迷ったら味噌汁」と覚えて帰ってもらう。
夏のあいだ冷たいものが続いた胃腸に、いちばん負担が少なく栄養が入るのが味噌汁。次のスライドで具の話へ。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「①②③から1つずつ」という選び方だけ持って帰ってもらう。レシピを覚える必要はない。
参加者に「今晩の味噌汁、何を入れますか？」とチャットで聞くと盛り上がる。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旬のものは価格が下がるので、家計の話としても伝わる。
「冷たいそうめんから、温かい根菜へ」という切り替えのイメージを持ってもらう。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献立の相談として使えるスライド。「今週これを1つ買ってみる」という宿題にしてもいい。
薬ではないので「効く」と断定せず、「おすすめ」の表現にとどめる。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始業日は自治体差があるので相対表現にしてある。参加者に自分の家の始業日を書いてもらう。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5分ほど時間を取って、実際に書いてもらう。
書けた方はチャットに1つだけ書いてもらうと、他の家庭の例が参考になる。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完璧主義をゆるめるパート。ここで安心して終われるようにする。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3つに絞って言い切る。ここで参加者にメモを取ってもらう時間を10秒とる。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2024年版のまとめスライドを踏襲。やわらかく締める。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質疑5分。答えきれない質問は後日まとめて共有する旨を伝えて終了。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7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-1417320"/>
            <a:ext cx="5394960" cy="53949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64040" y="-274320"/>
            <a:ext cx="3108960" cy="310896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572768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全2回オンライン講座 ／ 第2回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夏休みの終わり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2990088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〜 食と生活リズムの整え方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36576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2学期に向けて、朝・食事・夜の過ごし方をどう戻していくか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4434840"/>
            <a:ext cx="5074920" cy="566928"/>
          </a:xfrm>
          <a:prstGeom prst="roundRect">
            <a:avLst>
              <a:gd name="adj" fmla="val 50000"/>
            </a:avLst>
          </a:prstGeom>
          <a:solidFill>
            <a:srgbClr val="1E3A5F"/>
          </a:solidFill>
          <a:ln w="12700">
            <a:solidFill>
              <a:srgbClr val="35557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4434840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8月17日（月）21:30 〜 23:00（90分）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5394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スマイルおうち栄養士／管理栄養士　髙落 まどか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PROFILE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自己紹介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4937760" cy="3931920"/>
          </a:xfrm>
          <a:prstGeom prst="roundRect">
            <a:avLst>
              <a:gd name="adj" fmla="val 2093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19659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スマイルおうち栄養士／管理栄養士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242316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髙落 まどか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097280" y="333756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「夏休みごはん対策講座」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主催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434340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忙しい毎日でも続けられる、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おうちごはんの整え方をお伝えしています。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897880" y="1536192"/>
            <a:ext cx="5650992" cy="1170432"/>
          </a:xfrm>
          <a:prstGeom prst="roundRect">
            <a:avLst>
              <a:gd name="adj" fmla="val 703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17920" y="168249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これまでのこと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0" y="2084832"/>
            <a:ext cx="501091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C3D0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2084832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9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経歴・資格・お仕事のことなど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897880" y="2907792"/>
            <a:ext cx="5650992" cy="1170432"/>
          </a:xfrm>
          <a:prstGeom prst="roundRect">
            <a:avLst>
              <a:gd name="adj" fmla="val 703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17920" y="305409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この講座への想い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17920" y="3456432"/>
            <a:ext cx="501091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C3D0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5080" y="3456432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9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なぜこの講座をひらいているか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897880" y="4279392"/>
            <a:ext cx="5650992" cy="1170432"/>
          </a:xfrm>
          <a:prstGeom prst="roundRect">
            <a:avLst>
              <a:gd name="adj" fmla="val 703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217920" y="442569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ふだんの発信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217920" y="4828032"/>
            <a:ext cx="501091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C3D0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55080" y="4828032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9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SNS・ブログ・お教室など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右側は当日のご紹介内容にあわせて書き換えてください。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GOAL &amp; 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この90分で持ち帰っていただくこと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029200" cy="1024128"/>
          </a:xfrm>
          <a:prstGeom prst="roundRect">
            <a:avLst>
              <a:gd name="adj" fmla="val 80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719072"/>
            <a:ext cx="548640" cy="54864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7190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27632" y="162763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朝から戻す手順がわかる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627632" y="202996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「夜を早める」ではうまくいきません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688336"/>
            <a:ext cx="5029200" cy="1024128"/>
          </a:xfrm>
          <a:prstGeom prst="roundRect">
            <a:avLst>
              <a:gd name="adj" fmla="val 80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2926080"/>
            <a:ext cx="548640" cy="54864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27632" y="28346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不調を食事から見る視点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627632" y="323697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性格ではなく、食事から見てみます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895344"/>
            <a:ext cx="5029200" cy="1024128"/>
          </a:xfrm>
          <a:prstGeom prst="roundRect">
            <a:avLst>
              <a:gd name="adj" fmla="val 80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133088"/>
            <a:ext cx="548640" cy="54864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4133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27632" y="4041648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わが家の作戦が3つ決まる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627632" y="444398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最後にワークがあります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89320" y="1481328"/>
            <a:ext cx="5559552" cy="4315968"/>
          </a:xfrm>
          <a:prstGeom prst="roundRect">
            <a:avLst>
              <a:gd name="adj" fmla="val 1907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309360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今日の流れ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400800" y="2295144"/>
            <a:ext cx="100584" cy="100584"/>
          </a:xfrm>
          <a:prstGeom prst="ellipse">
            <a:avLst/>
          </a:prstGeom>
          <a:solidFill>
            <a:srgbClr val="AAB8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48272" y="21488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はじめに ／ 今の体の状態を知る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0515600" y="214884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8分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327648" y="2606040"/>
            <a:ext cx="274320" cy="274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27648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748272" y="25511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いま体に起きていること（秋バテ）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0515600" y="2551176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10分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327648" y="3008376"/>
            <a:ext cx="274320" cy="274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27648" y="3008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48272" y="295351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 — 一日と夜を決める時間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10515600" y="2953512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16分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327648" y="3410712"/>
            <a:ext cx="274320" cy="274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27648" y="34107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48272" y="335584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昼 — 食事の見方と注意すること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10515600" y="335584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11分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327648" y="3813048"/>
            <a:ext cx="274320" cy="274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27648" y="3813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748272" y="3758184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 — 入浴と睡眠で整える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10515600" y="3758184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11分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327648" y="4215384"/>
            <a:ext cx="274320" cy="274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27648" y="4215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748272" y="416052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胃腸を整える食べ方と味噌汁の使い方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10515600" y="416052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16分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327648" y="4617720"/>
            <a:ext cx="274320" cy="274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27648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748272" y="456285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2学期に向けた準備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10515600" y="4562856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3分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6327648" y="5020056"/>
            <a:ext cx="274320" cy="274320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27648" y="50200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6748272" y="496519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わが家のスタート作戦（ワーク）</a:t>
            </a:r>
            <a:endParaRPr lang="en-US" sz="1250" dirty="0"/>
          </a:p>
        </p:txBody>
      </p:sp>
      <p:sp>
        <p:nvSpPr>
          <p:cNvPr id="51" name="Text 49"/>
          <p:cNvSpPr/>
          <p:nvPr/>
        </p:nvSpPr>
        <p:spPr>
          <a:xfrm>
            <a:off x="10515600" y="4965192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10分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6400800" y="5513832"/>
            <a:ext cx="100584" cy="100584"/>
          </a:xfrm>
          <a:prstGeom prst="ellipse">
            <a:avLst/>
          </a:prstGeom>
          <a:solidFill>
            <a:srgbClr val="AAB8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748272" y="536752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 ／ 質疑応答</a:t>
            </a:r>
            <a:endParaRPr lang="en-US" sz="1250" dirty="0"/>
          </a:p>
        </p:txBody>
      </p:sp>
      <p:sp>
        <p:nvSpPr>
          <p:cNvPr id="54" name="Text 52"/>
          <p:cNvSpPr/>
          <p:nvPr/>
        </p:nvSpPr>
        <p:spPr>
          <a:xfrm>
            <a:off x="10515600" y="536752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5分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640080" y="5943600"/>
            <a:ext cx="10911535" cy="713232"/>
          </a:xfrm>
          <a:prstGeom prst="roundRect">
            <a:avLst>
              <a:gd name="adj" fmla="val 11538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1097280" y="5943600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正解を覚える時間ではありません。「わが家はこうする」を決めて帰る時間です。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LOOK BACK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前回（第1回）のおさらい＆報告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7223760" cy="1170432"/>
          </a:xfrm>
          <a:prstGeom prst="roundRect">
            <a:avLst>
              <a:gd name="adj" fmla="val 703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847088"/>
            <a:ext cx="566928" cy="566928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8470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64208" y="1755648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崩れる前提でOK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64208" y="215798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崩れるのは、あなたのせいじゃない。大事なのは、崩れても戻せる形を持っておくことでした。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907792"/>
            <a:ext cx="7223760" cy="1170432"/>
          </a:xfrm>
          <a:prstGeom prst="roundRect">
            <a:avLst>
              <a:gd name="adj" fmla="val 703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3218688"/>
            <a:ext cx="566928" cy="566928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18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64208" y="3127248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型はひとつ「主食＋たんぱく質＋色」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64208" y="352958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麺の日はやめなくていい。大事なのは、やめることではなく「何を足すか」。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279392"/>
            <a:ext cx="7223760" cy="1170432"/>
          </a:xfrm>
          <a:prstGeom prst="roundRect">
            <a:avLst>
              <a:gd name="adj" fmla="val 703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590288"/>
            <a:ext cx="566928" cy="566928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45902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64208" y="4498848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食べさせる前に、まず光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64208" y="490118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「食べない」の根っこは、リズムかもしれない。朝の光が、その日のスイッチを入れます。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183880" y="1536192"/>
            <a:ext cx="3364992" cy="3913632"/>
          </a:xfrm>
          <a:prstGeom prst="roundRect">
            <a:avLst>
              <a:gd name="adj" fmla="val 2446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458200" y="18745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今回やること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458200" y="237744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第1回で立てた計画を、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2学期に向けた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「戻し方」に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アップデートします。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458200" y="420624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「①で立てる、②で戻す」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が1セットです。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第1回に参加されていない方も、今日だけで完結する内容です。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はじめに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今の「あなた」と「お子さん」の体は、どんな状態でしょうか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266944" cy="3977640"/>
          </a:xfrm>
          <a:prstGeom prst="roundRect">
            <a:avLst>
              <a:gd name="adj" fmla="val 206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737360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3736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大人（あなた）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87552" y="2423160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3317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朝から体が重い、起きるのがつらい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987552" y="3136392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0449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冷房で手足が冷える／肩がこる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987552" y="3849624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17320" y="375818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冷たいもの・甘いものが増えた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987552" y="4562856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417320" y="447141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寝ても疲れが抜けない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281928" y="1481328"/>
            <a:ext cx="5266944" cy="3977640"/>
          </a:xfrm>
          <a:prstGeom prst="roundRect">
            <a:avLst>
              <a:gd name="adj" fmla="val 206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601968" y="1737360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01968" y="173736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29400" y="2423160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59168" y="23317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寝る時間が1〜2時間おそくなった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629400" y="3136392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59168" y="30449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朝は10時、11時まで起きてこない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629400" y="3849624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59168" y="375818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朝ごはんが菓子パンだけ／食べない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629400" y="4562856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59168" y="447141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ちょっとしたことでイライラ・グズグズ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40080" y="5623560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097280" y="5623560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意外と気づいていないのが、自分の体。まず「今」を知るところから始めます。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いま体に起きていること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夏バテだけじゃない…「秋バテ」だってあります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6949440" cy="2286000"/>
          </a:xfrm>
          <a:prstGeom prst="roundRect">
            <a:avLst>
              <a:gd name="adj" fmla="val 36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51560" y="173736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夏に起こる体のさまざまな不調は「夏バテ」と言われています。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51560" y="2212848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でも、夏が終わったとしても、夏の疲れが癒えないまま引きずってしまう。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51560" y="283464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それが『秋バテ』です。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40080" y="3977640"/>
            <a:ext cx="6949440" cy="1600200"/>
          </a:xfrm>
          <a:prstGeom prst="roundRect">
            <a:avLst>
              <a:gd name="adj" fmla="val 5143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024128" y="4315968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440740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7月・8月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24128" y="47091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夏バテ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852928" y="4315968"/>
            <a:ext cx="384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AB8C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36976" y="4315968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36976" y="440740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8月後半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236976" y="47091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77E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疲れが残る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065776" y="4315968"/>
            <a:ext cx="384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AB8C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49824" y="4315968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9824" y="440740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9月・10月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449824" y="47091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秋バテ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863840" y="1481328"/>
            <a:ext cx="3685032" cy="4096512"/>
          </a:xfrm>
          <a:prstGeom prst="roundRect">
            <a:avLst>
              <a:gd name="adj" fmla="val 2233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183880" y="17830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ここが今日の入口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183880" y="2286000"/>
            <a:ext cx="3063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「2学期が始まってから</a:t>
            </a:r>
            <a:endParaRPr lang="en-US" sz="17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崩れる」のは、</a:t>
            </a:r>
            <a:endParaRPr lang="en-US" sz="17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気持ちの問題では</a:t>
            </a:r>
            <a:endParaRPr lang="en-US" sz="17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ありません。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183880" y="397764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夏のあいだにたまった疲れが、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季節の変わり目に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出てくるからです。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だから、9月ではなく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「今」から整えます。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いま体に起きていること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秋バテが起こるのは「3大疲れ」が原因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361188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783080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45920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冷房疲れ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2532888"/>
            <a:ext cx="275234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室内外の気温差で、体温を調整する力が消耗します。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手足の冷え、肩こり、だるさ、寝つきの悪さとして出ます。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98264" y="1481328"/>
            <a:ext cx="3392424" cy="361188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18304" y="1783080"/>
            <a:ext cx="566928" cy="566928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18304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404104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胃腸疲れ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718304" y="2532888"/>
            <a:ext cx="275234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冷たいもの・そうめん中心の食生活の乱れで、胃腸が弱ります。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食欲が出ない、お腹の調子が悪い、栄養が入らない。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56448" y="1481328"/>
            <a:ext cx="3392424" cy="361188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76488" y="1783080"/>
            <a:ext cx="566928" cy="566928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76488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9162288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水分不足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76488" y="2532888"/>
            <a:ext cx="275234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汗をかいた分を、うっかり補えていないことが多いです。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頭痛、集中が続かない、朝から元気がない。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5285232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097280" y="5285232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3つとも、8月後半の今がいちばんたまっている時期です。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いま体に起きていること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胃腸が弱ると、腸内環境も気分も落ちていきます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5943600" cy="804672"/>
          </a:xfrm>
          <a:prstGeom prst="roundRect">
            <a:avLst>
              <a:gd name="adj" fmla="val 1022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682496"/>
            <a:ext cx="512064" cy="512064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16824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72768" y="1536192"/>
            <a:ext cx="4754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胃腸の働きが落ちる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24128" y="2340864"/>
            <a:ext cx="2560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AB8C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40080" y="2496312"/>
            <a:ext cx="5943600" cy="804672"/>
          </a:xfrm>
          <a:prstGeom prst="roundRect">
            <a:avLst>
              <a:gd name="adj" fmla="val 1022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96112" y="2642616"/>
            <a:ext cx="512064" cy="512064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6426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572768" y="2496312"/>
            <a:ext cx="4754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腸内環境が悪くなる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024128" y="3300984"/>
            <a:ext cx="2560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AB8C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40080" y="3456432"/>
            <a:ext cx="5943600" cy="804672"/>
          </a:xfrm>
          <a:prstGeom prst="roundRect">
            <a:avLst>
              <a:gd name="adj" fmla="val 1022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96112" y="3602736"/>
            <a:ext cx="512064" cy="512064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6112" y="36027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72768" y="3456432"/>
            <a:ext cx="4754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食べても、うまく吸収できない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24128" y="4261104"/>
            <a:ext cx="2560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AB8C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40080" y="4416552"/>
            <a:ext cx="5943600" cy="804672"/>
          </a:xfrm>
          <a:prstGeom prst="roundRect">
            <a:avLst>
              <a:gd name="adj" fmla="val 10227"/>
            </a:avLst>
          </a:prstGeom>
          <a:solidFill>
            <a:srgbClr val="F8E7E4"/>
          </a:solidFill>
          <a:ln w="12700">
            <a:solidFill>
              <a:srgbClr val="F8E7E4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96112" y="4562856"/>
            <a:ext cx="512064" cy="512064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96112" y="45628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572768" y="4416552"/>
            <a:ext cx="4754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気分まで落ちて、悪循環に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903720" y="1536192"/>
            <a:ext cx="4645152" cy="3886200"/>
          </a:xfrm>
          <a:prstGeom prst="roundRect">
            <a:avLst>
              <a:gd name="adj" fmla="val 2118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223760" y="18288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逆に、腸内環境が整うと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269480" y="2377440"/>
            <a:ext cx="3931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免疫力が上がる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便通がよくなる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ストレスがやわらぐ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疲れにくくなる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269480" y="443484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腸と脳はおたがいに情報を送りあっていて、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気分とのつながりが注目されている分野です。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腸内環境と気分の関係は研究が進んでいる分野です。ここでは「つながりがある」という視点としてお話ししています。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いま体に起きていること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「疲労」は、体だけの問題なのでしょうか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11535" cy="960120"/>
          </a:xfrm>
          <a:prstGeom prst="roundRect">
            <a:avLst>
              <a:gd name="adj" fmla="val 8571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1481328"/>
            <a:ext cx="99971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A. 疲労感を出しているのは、じつは「脳」です。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40080" y="2697480"/>
            <a:ext cx="5266944" cy="2697480"/>
          </a:xfrm>
          <a:prstGeom prst="roundRect">
            <a:avLst>
              <a:gd name="adj" fmla="val 3051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60120" y="29718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9718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元気なとき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05840" y="35204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昼は交感神経、夜は副交感神経。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一日のなかで、しっかり切り替わっています。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05840" y="46634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活動 → 休息 のリズムができている状態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647688" y="2697480"/>
            <a:ext cx="5266944" cy="2697480"/>
          </a:xfrm>
          <a:prstGeom prst="roundRect">
            <a:avLst>
              <a:gd name="adj" fmla="val 3051"/>
            </a:avLst>
          </a:prstGeom>
          <a:solidFill>
            <a:srgbClr val="F8E7E4"/>
          </a:solidFill>
          <a:ln w="12700">
            <a:solidFill>
              <a:srgbClr val="F8E7E4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967728" y="2971800"/>
            <a:ext cx="2468880" cy="384048"/>
          </a:xfrm>
          <a:prstGeom prst="roundRect">
            <a:avLst>
              <a:gd name="adj" fmla="val 50000"/>
            </a:avLst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67728" y="297180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なんとなく不調のとき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013448" y="35204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交感神経が優位な状態が、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長く続いている可能性があります。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13448" y="46634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休息に切り替われず、疲れが抜けない状態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5532120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097280" y="5532120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だからこそ、睡眠の質を意識した「一日の過ごし方」がポイントになります。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いま体に起きていること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だから「直前に一気に戻す」はうまくいきません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1600200"/>
          </a:xfrm>
          <a:prstGeom prst="roundRect">
            <a:avLst>
              <a:gd name="adj" fmla="val 5143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1737360"/>
            <a:ext cx="457200" cy="457200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32688" y="2286000"/>
            <a:ext cx="2807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体内時計は一気に動かない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32688" y="2651760"/>
            <a:ext cx="280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ずらせるのは1日15〜30分ほど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98264" y="1481328"/>
            <a:ext cx="3392424" cy="1600200"/>
          </a:xfrm>
          <a:prstGeom prst="roundRect">
            <a:avLst>
              <a:gd name="adj" fmla="val 5143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90872" y="1737360"/>
            <a:ext cx="457200" cy="457200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90872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90872" y="2286000"/>
            <a:ext cx="2807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「早く寝なさい」では眠くならない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90872" y="2651760"/>
            <a:ext cx="280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眠気は起きた時刻と光で決まる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56448" y="1481328"/>
            <a:ext cx="3392424" cy="1600200"/>
          </a:xfrm>
          <a:prstGeom prst="roundRect">
            <a:avLst>
              <a:gd name="adj" fmla="val 5143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49056" y="1737360"/>
            <a:ext cx="457200" cy="457200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49056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449056" y="2286000"/>
            <a:ext cx="2807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3つ同時に言われても動けない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49056" y="2651760"/>
            <a:ext cx="280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寝ろ・起きろ・食べろが一度に来る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3310128"/>
            <a:ext cx="10911535" cy="2148840"/>
          </a:xfrm>
          <a:prstGeom prst="roundRect">
            <a:avLst>
              <a:gd name="adj" fmla="val 3830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188720" y="3520440"/>
            <a:ext cx="98142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動かすのは「夜」ではなく、「朝」だけ。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1188720" y="4160520"/>
            <a:ext cx="2194560" cy="640080"/>
          </a:xfrm>
          <a:prstGeom prst="roundRect">
            <a:avLst>
              <a:gd name="adj" fmla="val 14286"/>
            </a:avLst>
          </a:prstGeom>
          <a:solidFill>
            <a:srgbClr val="3555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88720" y="4160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朝、起こす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383280" y="416052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703320" y="4160520"/>
            <a:ext cx="2194560" cy="640080"/>
          </a:xfrm>
          <a:prstGeom prst="roundRect">
            <a:avLst>
              <a:gd name="adj" fmla="val 14286"/>
            </a:avLst>
          </a:prstGeom>
          <a:solidFill>
            <a:srgbClr val="3555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03320" y="4160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光を浴びる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5897880" y="416052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17920" y="4160520"/>
            <a:ext cx="2194560" cy="640080"/>
          </a:xfrm>
          <a:prstGeom prst="roundRect">
            <a:avLst>
              <a:gd name="adj" fmla="val 14286"/>
            </a:avLst>
          </a:prstGeom>
          <a:solidFill>
            <a:srgbClr val="3555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17920" y="4160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朝ごはん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412480" y="416052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732520" y="4160520"/>
            <a:ext cx="2194560" cy="640080"/>
          </a:xfrm>
          <a:prstGeom prst="roundRect">
            <a:avLst>
              <a:gd name="adj" fmla="val 14286"/>
            </a:avLst>
          </a:prstGeom>
          <a:solidFill>
            <a:srgbClr val="3555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32520" y="4160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夜が早まる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1188720" y="493776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起きる時間が前に動けば、眠くなる時間も自然と前に動きます。夜は「結果」であって、「原因」ではありません。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今日いちばん覚えて帰っていただきたいのは、この1枚です。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27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417320"/>
            <a:ext cx="3108960" cy="31089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006840" y="1691640"/>
            <a:ext cx="2560320" cy="2560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06840" y="1691640"/>
            <a:ext cx="2560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7600" dirty="0"/>
          </a:p>
        </p:txBody>
      </p:sp>
      <p:sp>
        <p:nvSpPr>
          <p:cNvPr id="6" name="Text 4"/>
          <p:cNvSpPr/>
          <p:nvPr/>
        </p:nvSpPr>
        <p:spPr>
          <a:xfrm>
            <a:off x="640080" y="269748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目覚めてからの行動が、</a:t>
            </a:r>
            <a:endParaRPr lang="en-US" sz="3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その日と夜を決める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58368" y="46451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45262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起きる時間の決め方と、15分ずつの前倒し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" y="51023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49834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光と朝ごはんという2つのスイッチ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55595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5440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朝食におすすめの食材（トリプトファン × ビタミンB6）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朝を戻す3ステップ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7818120" cy="1261872"/>
          </a:xfrm>
          <a:prstGeom prst="roundRect">
            <a:avLst>
              <a:gd name="adj" fmla="val 6522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773936"/>
            <a:ext cx="676656" cy="676656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73936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847088" y="1664208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起きる時間を先に決める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847088" y="2084832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寝る時間ではなく、起きる時間から決めます。2学期の起床時刻を、家族で1つに。まずは紙に書いて貼るところから。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7818120" cy="1261872"/>
          </a:xfrm>
          <a:prstGeom prst="roundRect">
            <a:avLst>
              <a:gd name="adj" fmla="val 6522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60120" y="3191256"/>
            <a:ext cx="676656" cy="676656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3191256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847088" y="3081528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起きて30分以内に光を浴びる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847088" y="3502152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セロトニンが分泌されて交感神経が優位に切り替わり、活動スイッチが入ります。カーテンを開けるだけでOK。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315968"/>
            <a:ext cx="7818120" cy="1261872"/>
          </a:xfrm>
          <a:prstGeom prst="roundRect">
            <a:avLst>
              <a:gd name="adj" fmla="val 6522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4608576"/>
            <a:ext cx="676656" cy="676656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608576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847088" y="4498848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朝ごはんを食べる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847088" y="4919472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食べると内臓の時計が動きはじめます。トリプトファンとビタミンB6を含む食品がおすすめです。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732520" y="1481328"/>
            <a:ext cx="2816352" cy="4160520"/>
          </a:xfrm>
          <a:prstGeom prst="roundRect">
            <a:avLst>
              <a:gd name="adj" fmla="val 2922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006840" y="1783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順番が大事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006840" y="2286000"/>
            <a:ext cx="2286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①→②→③の順に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やってください。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③だけを先に頑張ると、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「食べない」で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もめて終わります。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①が決まらないうちは、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②も③も動きません。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15分ずつ前倒し作戦（例：9:30 → 6:45）</a:t>
            </a:r>
            <a:endParaRPr lang="en-US" sz="27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81328"/>
          <a:ext cx="781812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371600"/>
                <a:gridCol w="41148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日にち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起きる時間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この日のねらい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8/18（火）〜19（水）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9:15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まずは15分だけ。起きたらカーテンを開ける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8/20（木）〜21（金）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8:45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朝ごはんを一口。飲みものだけでもOK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8/22（土）〜23（日）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8:15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土日も同じ時間で。ここが最大の山場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8/24（月）〜25（火）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7:45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朝ごはんを2品に（主食＋たんぱく質）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8/26（水）〜27（木）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7:15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着替え・支度まで通しで練習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8/28（金）〜31（月）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6:45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学校と同じ時間で通し運転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732520" y="1481328"/>
            <a:ext cx="2816352" cy="3291840"/>
          </a:xfrm>
          <a:prstGeom prst="roundRect">
            <a:avLst>
              <a:gd name="adj" fmla="val 2922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006840" y="17556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コツ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9006840" y="2212848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・2日で15分ずつ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・土日もそろえる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・目標時刻から逆算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・戻すのは「起床」だけ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006840" y="39319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残り日数が少ないときは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30分刻みでも大丈夫。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ゼロよりずっと違います。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732520" y="4937760"/>
            <a:ext cx="2816352" cy="932688"/>
          </a:xfrm>
          <a:prstGeom prst="roundRect">
            <a:avLst>
              <a:gd name="adj" fmla="val 8824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9006840" y="4937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寝る時間は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決めなくてOK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起床時刻の一例です。ご家庭の「今の起床時刻」と「2学期の起床時刻」に合わせて刻んでください。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朝ごはんも、第1回と同じ型でOK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2514600"/>
          </a:xfrm>
          <a:prstGeom prst="roundRect">
            <a:avLst>
              <a:gd name="adj" fmla="val 3273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719072"/>
            <a:ext cx="2880360" cy="502920"/>
          </a:xfrm>
          <a:prstGeom prst="roundRect">
            <a:avLst>
              <a:gd name="adj" fmla="val 16364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1719072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 食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24128" y="2377440"/>
            <a:ext cx="262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・ごはん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024128" y="2743200"/>
            <a:ext cx="262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・パン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024128" y="3108960"/>
            <a:ext cx="262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・おにぎり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024128" y="3474720"/>
            <a:ext cx="262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・冷凍うどん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032504" y="2377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AB8C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398264" y="1481328"/>
            <a:ext cx="3392424" cy="2514600"/>
          </a:xfrm>
          <a:prstGeom prst="roundRect">
            <a:avLst>
              <a:gd name="adj" fmla="val 3273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54296" y="1719072"/>
            <a:ext cx="2880360" cy="502920"/>
          </a:xfrm>
          <a:prstGeom prst="roundRect">
            <a:avLst>
              <a:gd name="adj" fmla="val 16364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4296" y="1719072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たんぱく質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782312" y="2377440"/>
            <a:ext cx="262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・卵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782312" y="2743200"/>
            <a:ext cx="262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・納豆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782312" y="3108960"/>
            <a:ext cx="262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・チーズ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782312" y="3474720"/>
            <a:ext cx="262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・ヨーグルト・牛乳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790688" y="2377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AB8C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156448" y="1481328"/>
            <a:ext cx="3392424" cy="2514600"/>
          </a:xfrm>
          <a:prstGeom prst="roundRect">
            <a:avLst>
              <a:gd name="adj" fmla="val 3273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412480" y="1719072"/>
            <a:ext cx="2880360" cy="502920"/>
          </a:xfrm>
          <a:prstGeom prst="roundRect">
            <a:avLst>
              <a:gd name="adj" fmla="val 16364"/>
            </a:avLst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12480" y="1719072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540496" y="2377440"/>
            <a:ext cx="262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・バナナ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540496" y="2743200"/>
            <a:ext cx="262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・トマト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540496" y="3108960"/>
            <a:ext cx="262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・のり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430768" y="3566160"/>
            <a:ext cx="2843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朝は、ここまで届かなくて大丈夫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0080" y="4206240"/>
            <a:ext cx="109115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それも無理な日は、ここまで下げて大丈夫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40080" y="4645152"/>
            <a:ext cx="3392424" cy="1005840"/>
          </a:xfrm>
          <a:prstGeom prst="roundRect">
            <a:avLst>
              <a:gd name="adj" fmla="val 8182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914400" y="4736592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まず水分＋一口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14400" y="5102352"/>
            <a:ext cx="2843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麦茶・牛乳／バナナ／一口のおにぎり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032504" y="4645152"/>
            <a:ext cx="365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8C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398264" y="4645152"/>
            <a:ext cx="3392424" cy="1005840"/>
          </a:xfrm>
          <a:prstGeom prst="roundRect">
            <a:avLst>
              <a:gd name="adj" fmla="val 8182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4672584" y="4736592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主食＋たんぱく質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672584" y="5102352"/>
            <a:ext cx="2843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おにぎり＋卵／パン＋チーズ／ごはん＋納豆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790688" y="4645152"/>
            <a:ext cx="365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8C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156448" y="4645152"/>
            <a:ext cx="3392424" cy="1005840"/>
          </a:xfrm>
          <a:prstGeom prst="roundRect">
            <a:avLst>
              <a:gd name="adj" fmla="val 8182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8430768" y="4736592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＋色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430768" y="5102352"/>
            <a:ext cx="2843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果物やのりを1つ足せたら満点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覚える型はひとつだけ。第1回の「主食＋たんぱく質＋色」を、そのまま朝にも使います。目指すのは真ん中です。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朝食におすすめ — トリプトファン × ビタミンB6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1481328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セロトニンの材料が「トリプトファン」、その働きを助けるのが「ビタミンB6」です。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487168"/>
            <a:ext cx="3392424" cy="2788920"/>
          </a:xfrm>
          <a:prstGeom prst="roundRect">
            <a:avLst>
              <a:gd name="adj" fmla="val 295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2743200"/>
            <a:ext cx="2880360" cy="475488"/>
          </a:xfrm>
          <a:prstGeom prst="roundRect">
            <a:avLst>
              <a:gd name="adj" fmla="val 17308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2743200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トリプトファンが多い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32688" y="3401568"/>
            <a:ext cx="28437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ヨーグルト・牛乳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チーズ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豆腐・納豆・味噌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ピーナッツ・アーモンド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ごま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98264" y="2487168"/>
            <a:ext cx="3392424" cy="2788920"/>
          </a:xfrm>
          <a:prstGeom prst="roundRect">
            <a:avLst>
              <a:gd name="adj" fmla="val 295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54296" y="2743200"/>
            <a:ext cx="2880360" cy="475488"/>
          </a:xfrm>
          <a:prstGeom prst="roundRect">
            <a:avLst>
              <a:gd name="adj" fmla="val 17308"/>
            </a:avLst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4296" y="2743200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ビタミンB6が多い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690872" y="3401568"/>
            <a:ext cx="28437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鶏肉・豚肉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かつお・まぐろなどの青魚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レバー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にんにく・生姜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玄米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56448" y="2487168"/>
            <a:ext cx="3392424" cy="2788920"/>
          </a:xfrm>
          <a:prstGeom prst="roundRect">
            <a:avLst>
              <a:gd name="adj" fmla="val 295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12480" y="2743200"/>
            <a:ext cx="2880360" cy="475488"/>
          </a:xfrm>
          <a:prstGeom prst="roundRect">
            <a:avLst>
              <a:gd name="adj" fmla="val 17308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0" y="2743200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両方ふくむ食品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449056" y="3401568"/>
            <a:ext cx="28437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バナナ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納豆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豆腐・豆乳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卵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5468112"/>
            <a:ext cx="10911535" cy="749808"/>
          </a:xfrm>
          <a:prstGeom prst="roundRect">
            <a:avLst>
              <a:gd name="adj" fmla="val 10976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1097280" y="5468112"/>
            <a:ext cx="999713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むずかしく考えず「バナナ＋牛乳」「ごはん＋納豆」。これで両方そろいます。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朝ごはんに1品足す — のせるだけ・かけるだけ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365760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755648"/>
            <a:ext cx="2880360" cy="548640"/>
          </a:xfrm>
          <a:prstGeom prst="roundRect">
            <a:avLst>
              <a:gd name="adj" fmla="val 15000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175564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ごはんに のせる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14400" y="2450592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2450592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卵（生卵・温泉卵）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14400" y="2971800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2971800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納豆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914400" y="3493008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24128" y="3493008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しらす・ちりめんじゃこ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14400" y="4014216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4128" y="4014216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鮭フレーク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14400" y="4535424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24128" y="4535424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韓国のり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398264" y="1481328"/>
            <a:ext cx="3392424" cy="365760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54296" y="1755648"/>
            <a:ext cx="2880360" cy="548640"/>
          </a:xfrm>
          <a:prstGeom prst="roundRect">
            <a:avLst>
              <a:gd name="adj" fmla="val 15000"/>
            </a:avLst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54296" y="175564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パンに のせる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672584" y="2450592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82312" y="2450592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スライスチーズ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672584" y="2971800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82312" y="2971800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ハム・ツナ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672584" y="3493008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82312" y="3493008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ピーナッツバター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672584" y="4014216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82312" y="4014216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ヨーグルトを添える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8156448" y="1481328"/>
            <a:ext cx="3392424" cy="365760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412480" y="1755648"/>
            <a:ext cx="2880360" cy="548640"/>
          </a:xfrm>
          <a:prstGeom prst="roundRect">
            <a:avLst>
              <a:gd name="adj" fmla="val 15000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0" y="175564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汁物に 入れる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8430768" y="2450592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40496" y="2450592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乾燥わかめ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8430768" y="2971800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540496" y="2971800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豆腐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8430768" y="3493008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40496" y="3493008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冷凍のカット野菜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8430768" y="4014216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540496" y="4014216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卵を落とす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640080" y="5321808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1097280" y="5321808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切る・炒めるは要りません。のせる、かける、落とすだけ。1品足すのに30秒あれば十分です。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327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417320"/>
            <a:ext cx="3108960" cy="31089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006840" y="1691640"/>
            <a:ext cx="2560320" cy="2560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06840" y="1691640"/>
            <a:ext cx="2560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昼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7600" dirty="0"/>
          </a:p>
        </p:txBody>
      </p:sp>
      <p:sp>
        <p:nvSpPr>
          <p:cNvPr id="6" name="Text 4"/>
          <p:cNvSpPr/>
          <p:nvPr/>
        </p:nvSpPr>
        <p:spPr>
          <a:xfrm>
            <a:off x="640080" y="269748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起きられない、だるい、イライラ</a:t>
            </a:r>
            <a:endParaRPr lang="en-US" sz="3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を食事から見る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58368" y="46451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45262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血糖の波・たんぱく質と鉄・水分とミネラル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" y="51023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49834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昼に注意したいこと（カフェインと糖質）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55595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5440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0円でできる、3つの習慣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その不調、食事からのサインかもしれません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352044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783080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45920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血糖の波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2542032"/>
            <a:ext cx="275234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菓子パンやジュース“だけ”の朝は、いったん上がって急に落ちます。落ちたときに出るのが、だるさ・眠気・イライラ。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60120" y="4114800"/>
            <a:ext cx="2752344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4114800"/>
            <a:ext cx="25694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だるい・イライラ・急な眠気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98264" y="1481328"/>
            <a:ext cx="3392424" cy="352044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18304" y="1783080"/>
            <a:ext cx="566928" cy="566928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18304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404104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たんぱく質と鉄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718304" y="2542032"/>
            <a:ext cx="275234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そうめん中心の夏は、どちらも不足しがち。とくに成長期と、生理のある女の子は減りやすい栄養素です。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718304" y="4114800"/>
            <a:ext cx="2752344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9744" y="4114800"/>
            <a:ext cx="25694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立ちくらみ・集中が続かない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56448" y="1481328"/>
            <a:ext cx="3392424" cy="352044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76488" y="1783080"/>
            <a:ext cx="566928" cy="566928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76488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162288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水分とミネラル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476488" y="2542032"/>
            <a:ext cx="275234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汗で出たまま、麦茶だけで過ごしていませんか。水分だけでは足りず、塩分やミネラルも一緒に必要です。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476488" y="4114800"/>
            <a:ext cx="2752344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67928" y="4114800"/>
            <a:ext cx="25694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頭痛・食欲がない・元気が出ない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5193792"/>
            <a:ext cx="10911535" cy="82296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051560" y="5193792"/>
            <a:ext cx="10088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ここでお話しするのは「食事から見てみる」という視点です。症状が続くときや気になるときは、必ず医療機関にご相談ください。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同じ「食べた」でも、午前中の体調は変わります</a:t>
            </a:r>
            <a:endParaRPr lang="en-US" sz="27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481328"/>
          <a:ext cx="722376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23036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9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血糖の動きのイメージ図です（実測値ではありません）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8183880" y="1481328"/>
            <a:ext cx="3364992" cy="1965960"/>
          </a:xfrm>
          <a:prstGeom prst="roundRect">
            <a:avLst>
              <a:gd name="adj" fmla="val 4186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485632" y="16916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急に上がると、急に落ちる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485632" y="214884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落ちたタイミングで出るのが、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だるさ・眠気・イライラ。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「食べたのに元気がない」の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正体はここにあります。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8183880" y="3611880"/>
            <a:ext cx="3364992" cy="2103120"/>
          </a:xfrm>
          <a:prstGeom prst="roundRect">
            <a:avLst>
              <a:gd name="adj" fmla="val 3913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85632" y="3822192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覚えるのは1つだけ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85632" y="4224528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単品にしない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8485632" y="475488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パンだけ・麺だけ・果物だけを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やめて、何か1つ足す。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それだけで波はゆるやかに。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注意すること — カフェイン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11535" cy="841248"/>
          </a:xfrm>
          <a:prstGeom prst="roundRect">
            <a:avLst>
              <a:gd name="adj" fmla="val 9783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1481328"/>
            <a:ext cx="999713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カフェインの覚醒作用は、思っているより長く続きます。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40080" y="2514600"/>
            <a:ext cx="5266944" cy="2926080"/>
          </a:xfrm>
          <a:prstGeom prst="roundRect">
            <a:avLst>
              <a:gd name="adj" fmla="val 2813"/>
            </a:avLst>
          </a:prstGeom>
          <a:solidFill>
            <a:srgbClr val="F8E7E4"/>
          </a:solidFill>
          <a:ln w="12700">
            <a:solidFill>
              <a:srgbClr val="F8E7E4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05840" y="27614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夕方に飲むと、こうなります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005840" y="3200400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E4C3B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3200400"/>
            <a:ext cx="4572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夕方以降に飲む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005840" y="3749040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E4C3B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749040"/>
            <a:ext cx="4572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寝つきが悪くなる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005840" y="4297680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E4C3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4297680"/>
            <a:ext cx="4572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翌朝、起きられない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005840" y="4846320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E4C3B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4846320"/>
            <a:ext cx="4572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また夕方に飲む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647688" y="2514600"/>
            <a:ext cx="5266944" cy="2926080"/>
          </a:xfrm>
          <a:prstGeom prst="roundRect">
            <a:avLst>
              <a:gd name="adj" fmla="val 2813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013448" y="27614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意外と入っているもの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059168" y="320040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エナジードリンク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692640" y="3200400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とくに中高生は注意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059168" y="374904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77E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コーヒー・カフェオレ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9692640" y="3749040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1杯でもしっかり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059168" y="429768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紅茶・緑茶・ほうじ茶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9692640" y="4297680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麦茶にはほぼ入らない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059168" y="484632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コーラ・ココア・チョコ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692640" y="4846320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飲みもの以外にも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5623560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097280" y="5623560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決めるのは1つだけ。「15時以降は飲まない」。それで夜がぐっとラクになります。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取り入れたほうがいいこと — 0円でできる3つ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352044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783080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45920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食べることに集中する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2532888"/>
            <a:ext cx="275234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テレビやスマホを見ながらの「ながら食べ」をやめてみる。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食べた実感が出て、満足感も、消化も変わります。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98264" y="1481328"/>
            <a:ext cx="3392424" cy="352044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18304" y="1783080"/>
            <a:ext cx="566928" cy="566928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18304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404104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深呼吸する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718304" y="2532888"/>
            <a:ext cx="275234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ゆっくり吐くと、副交感神経に切り替わります。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食事の前にひと呼吸。イライラしたときにも。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56448" y="1481328"/>
            <a:ext cx="3392424" cy="352044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76488" y="1783080"/>
            <a:ext cx="566928" cy="566928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76488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9162288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笑う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76488" y="2532888"/>
            <a:ext cx="275234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作り笑いでも効果があると言われています。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親が笑っている食卓は、それだけで子どもの体をゆるめます。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5193792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097280" y="5193792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どれもお金も時間もかかりません。今日の夕食から1つだけ試してみてください。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それでも「食べない」ときは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7818120" cy="1298448"/>
          </a:xfrm>
          <a:prstGeom prst="roundRect">
            <a:avLst>
              <a:gd name="adj" fmla="val 63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847088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8470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737360" y="1737360"/>
            <a:ext cx="6537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量より、回数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737360" y="2157984"/>
            <a:ext cx="6537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1回で食べきらせなくて大丈夫。朝に一口、登校前に一口、と分けるほうが体に入ります。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962656"/>
            <a:ext cx="7818120" cy="1298448"/>
          </a:xfrm>
          <a:prstGeom prst="roundRect">
            <a:avLst>
              <a:gd name="adj" fmla="val 63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60120" y="3328416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737360" y="3218688"/>
            <a:ext cx="6537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食べやすい形にする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737360" y="3639312"/>
            <a:ext cx="6537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冷たい・のどごしがいい・小さい。ゼリー、スープ、半分のおにぎりなど。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443984"/>
            <a:ext cx="7818120" cy="1298448"/>
          </a:xfrm>
          <a:prstGeom prst="roundRect">
            <a:avLst>
              <a:gd name="adj" fmla="val 63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4809744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8097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737360" y="4700016"/>
            <a:ext cx="6537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飲みもので栄養を入れる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737360" y="5120640"/>
            <a:ext cx="6537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牛乳、豆乳、飲むヨーグルト、具だくさんのスープ。噛まずに済むものなら、食べられない朝でも入ります。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732520" y="1481328"/>
            <a:ext cx="2816352" cy="4443984"/>
          </a:xfrm>
          <a:prstGeom prst="roundRect">
            <a:avLst>
              <a:gd name="adj" fmla="val 2922"/>
            </a:avLst>
          </a:prstGeom>
          <a:solidFill>
            <a:srgbClr val="F8E7E4"/>
          </a:solidFill>
          <a:ln w="12700">
            <a:solidFill>
              <a:srgbClr val="F8E7E4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006840" y="1828800"/>
            <a:ext cx="457200" cy="457200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00684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006840" y="24231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こんなときは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相談を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052560" y="3291840"/>
            <a:ext cx="2240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7A37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体重が減ってきた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7A37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水分もとれない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7A37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2週間以上つづく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7A37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朝の頭痛・腹痛が毎日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迷ったら、かかりつけ医・学校の養護教諭・スクールカウンセラーへ。早いほど選択肢が多くなります。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327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417320"/>
            <a:ext cx="3108960" cy="31089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006840" y="1691640"/>
            <a:ext cx="2560320" cy="2560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06840" y="1691640"/>
            <a:ext cx="2560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7600" dirty="0"/>
          </a:p>
        </p:txBody>
      </p:sp>
      <p:sp>
        <p:nvSpPr>
          <p:cNvPr id="6" name="Text 4"/>
          <p:cNvSpPr/>
          <p:nvPr/>
        </p:nvSpPr>
        <p:spPr>
          <a:xfrm>
            <a:off x="640080" y="269748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自律神経を整えるために</a:t>
            </a:r>
            <a:endParaRPr lang="en-US" sz="3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『入浴』と『睡眠』は押さえたい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58368" y="46451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45262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夕食の時間・中身・遅くなった日の対応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" y="51023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49834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入浴は38〜39度で、就寝の90分前まで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55595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5440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必要な睡眠時間は、大人と子どもで違います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4. 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夕食の3つのポイント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11535" cy="1207008"/>
          </a:xfrm>
          <a:prstGeom prst="roundRect">
            <a:avLst>
              <a:gd name="adj" fmla="val 681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1810512"/>
            <a:ext cx="1051560" cy="548640"/>
          </a:xfrm>
          <a:prstGeom prst="roundRect">
            <a:avLst>
              <a:gd name="adj" fmla="val 15000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1810512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212848" y="1664208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寝る3時間前までに食べ終わる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2212848" y="210312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難しい日は、夕方に軽く食べておいて、帰宅後は軽めに。2回に分けるほうが体はラクです。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71216"/>
            <a:ext cx="10911535" cy="1207008"/>
          </a:xfrm>
          <a:prstGeom prst="roundRect">
            <a:avLst>
              <a:gd name="adj" fmla="val 681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32688" y="3200400"/>
            <a:ext cx="1051560" cy="548640"/>
          </a:xfrm>
          <a:prstGeom prst="roundRect">
            <a:avLst>
              <a:gd name="adj" fmla="val 15000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320040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中身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212848" y="3054096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主食＋たんぱく質＋野菜を1皿ずつ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2212848" y="3493008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そろえるだけで十分。夜おそくなった日は、揚げ物と大盛りだけ避けてください。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261104"/>
            <a:ext cx="10911535" cy="1207008"/>
          </a:xfrm>
          <a:prstGeom prst="roundRect">
            <a:avLst>
              <a:gd name="adj" fmla="val 681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32688" y="4590288"/>
            <a:ext cx="1051560" cy="548640"/>
          </a:xfrm>
          <a:prstGeom prst="roundRect">
            <a:avLst>
              <a:gd name="adj" fmla="val 15000"/>
            </a:avLst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4590288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遅い日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212848" y="4443984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「抜く」より「軽く」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2212848" y="4882896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おにぎり＋みそ汁、うどん＋卵。それで大丈夫です。抜くと、夜中に空腹で目が覚めます。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5650992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097280" y="5650992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夜にたくさん食べた翌朝は、朝ごはんが入りません。朝を守るために、夜を軽くします。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4. 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 — ぬるめのお湯で、じっくり温まる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943600" cy="3977640"/>
          </a:xfrm>
          <a:prstGeom prst="roundRect">
            <a:avLst>
              <a:gd name="adj" fmla="val 206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783080"/>
            <a:ext cx="1417320" cy="475488"/>
          </a:xfrm>
          <a:prstGeom prst="roundRect">
            <a:avLst>
              <a:gd name="adj" fmla="val 17308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83080"/>
            <a:ext cx="1417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お湯の温度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560320" y="17373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38〜39度くらいの、ややぬるめ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60120" y="2715768"/>
            <a:ext cx="1417320" cy="475488"/>
          </a:xfrm>
          <a:prstGeom prst="roundRect">
            <a:avLst>
              <a:gd name="adj" fmla="val 17308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715768"/>
            <a:ext cx="1417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 間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60320" y="2670048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10〜15分ほど。複数回に分けて出入りすると、血流が改善されやすくなります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60120" y="3648456"/>
            <a:ext cx="1417320" cy="475488"/>
          </a:xfrm>
          <a:prstGeom prst="roundRect">
            <a:avLst>
              <a:gd name="adj" fmla="val 17308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3648456"/>
            <a:ext cx="1417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タイミング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60320" y="3602736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就寝の90分前までに湯船から出る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60120" y="4581144"/>
            <a:ext cx="1417320" cy="475488"/>
          </a:xfrm>
          <a:prstGeom prst="roundRect">
            <a:avLst>
              <a:gd name="adj" fmla="val 17308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4581144"/>
            <a:ext cx="1417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シャワーの日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560320" y="4535424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湯船に入れない日は、いつもより少し早めに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903720" y="1481328"/>
            <a:ext cx="4645152" cy="3977640"/>
          </a:xfrm>
          <a:prstGeom prst="roundRect">
            <a:avLst>
              <a:gd name="adj" fmla="val 2069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223760" y="175564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なぜ90分前なのか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223760" y="2331720"/>
            <a:ext cx="4023360" cy="621792"/>
          </a:xfrm>
          <a:prstGeom prst="roundRect">
            <a:avLst>
              <a:gd name="adj" fmla="val 14706"/>
            </a:avLst>
          </a:prstGeom>
          <a:solidFill>
            <a:srgbClr val="3555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23760" y="2331720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お風呂で体温が上がる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006840" y="2953512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C93A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223760" y="3200400"/>
            <a:ext cx="4023360" cy="621792"/>
          </a:xfrm>
          <a:prstGeom prst="roundRect">
            <a:avLst>
              <a:gd name="adj" fmla="val 14706"/>
            </a:avLst>
          </a:prstGeom>
          <a:solidFill>
            <a:srgbClr val="3555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23760" y="3200400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上がった体温が下がりはじめる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006840" y="3822192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C93A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223760" y="4069080"/>
            <a:ext cx="4023360" cy="621792"/>
          </a:xfrm>
          <a:prstGeom prst="roundRect">
            <a:avLst>
              <a:gd name="adj" fmla="val 14706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23760" y="4069080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下がるタイミングで眠くなる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7223760" y="489204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熱すぎるお湯は、逆に交感神経を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刺激して目が冴えてしまいます。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21時に寝かせたいなら、19時半にはお風呂から出ている計算になります。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4. 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睡眠 — 必要な時間は、大人と子どもで違います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1417320"/>
          </a:xfrm>
          <a:prstGeom prst="roundRect">
            <a:avLst>
              <a:gd name="adj" fmla="val 580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69164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小学生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103120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9〜11時間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398264" y="1481328"/>
            <a:ext cx="3392424" cy="1417320"/>
          </a:xfrm>
          <a:prstGeom prst="roundRect">
            <a:avLst>
              <a:gd name="adj" fmla="val 580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72584" y="169164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中学生・高校生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672584" y="2103120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77E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8〜10時間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8156448" y="1481328"/>
            <a:ext cx="3392424" cy="1417320"/>
          </a:xfrm>
          <a:prstGeom prst="roundRect">
            <a:avLst>
              <a:gd name="adj" fmla="val 580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430768" y="169164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 人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430768" y="2103120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6〜7時間半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640080" y="3127248"/>
            <a:ext cx="5943600" cy="2331720"/>
          </a:xfrm>
          <a:prstGeom prst="roundRect">
            <a:avLst>
              <a:gd name="adj" fmla="val 3529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005840" y="336499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時間の確保とあわせて、この3つ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51560" y="384048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起床直後に、しっかり光を浴びる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寝る前1時間は、スマホ・PC・ゲームを控える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好きな音楽やアロマでリラックスする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903720" y="3127248"/>
            <a:ext cx="4645152" cy="2331720"/>
          </a:xfrm>
          <a:prstGeom prst="roundRect">
            <a:avLst>
              <a:gd name="adj" fmla="val 3529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223760" y="336499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6:45に起きるなら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223760" y="3794760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小学生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366760" y="3794760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20:45 〜 21:45 就寝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223760" y="43616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中高生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366760" y="4361688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21:45 〜 22:45 就寝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493776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逆算すると、夕食とお風呂の時間も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自然と決まってきます。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子どもの睡眠時間は目安です。朝すっきり起きられているかを、いちばんの基準にしてください。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 胃腸と食材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食事面からもアプローチ — “胃腸整え隊”の5人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2057400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280160" y="1874520"/>
            <a:ext cx="777240" cy="77724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8745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283464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 湯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777240" y="370332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内臓を直接あたためる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852928" y="1572768"/>
            <a:ext cx="2057400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93008" y="1874520"/>
            <a:ext cx="777240" cy="77724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93008" y="18745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990088" y="283464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よく噛む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2990088" y="370332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胃腸の働きを助ける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65776" y="1572768"/>
            <a:ext cx="2057400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705856" y="1874520"/>
            <a:ext cx="777240" cy="77724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05856" y="18745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202936" y="283464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決まった時間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5202936" y="370332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体内リズムが整う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278624" y="1572768"/>
            <a:ext cx="2057400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918704" y="1874520"/>
            <a:ext cx="777240" cy="777240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18704" y="18745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415784" y="283464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消化時間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7415784" y="370332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重いものを避ける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491472" y="1572768"/>
            <a:ext cx="2057400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131552" y="1874520"/>
            <a:ext cx="777240" cy="777240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131552" y="18745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9628632" y="283464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砂糖を控える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9628632" y="370332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血糖の波を小さく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5074920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1097280" y="5074920"/>
            <a:ext cx="99971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胃腸の働きも、自律神経がコントロールしています。整えると、食べたものがちゃんと栄養になります。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 胃腸と食材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白湯を飲む ／ よく噛む ／ 決まった時間に食べる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356616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755648"/>
            <a:ext cx="2880360" cy="566928"/>
          </a:xfrm>
          <a:prstGeom prst="roundRect">
            <a:avLst>
              <a:gd name="adj" fmla="val 14516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1755648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白湯を飲む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14400" y="2542032"/>
            <a:ext cx="28620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内臓を直接あたためられる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体が温まり、血流がよくなる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肩こりがラクになる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98264" y="1481328"/>
            <a:ext cx="3392424" cy="356616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54296" y="1755648"/>
            <a:ext cx="2880360" cy="566928"/>
          </a:xfrm>
          <a:prstGeom prst="roundRect">
            <a:avLst>
              <a:gd name="adj" fmla="val 14516"/>
            </a:avLst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54296" y="1755648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よく噛んで楽しく食べる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672584" y="2542032"/>
            <a:ext cx="28620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胃腸の働きを助ける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脳が活性化する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虫歯予防・食べすぎ防止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56448" y="1481328"/>
            <a:ext cx="3392424" cy="356616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12480" y="1755648"/>
            <a:ext cx="2880360" cy="566928"/>
          </a:xfrm>
          <a:prstGeom prst="roundRect">
            <a:avLst>
              <a:gd name="adj" fmla="val 14516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0" y="1755648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決まった時間に食べる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430768" y="2542032"/>
            <a:ext cx="28620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体内のリズムが整う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胃腸の調子が整いやすくなる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空腹と満腹がはっきりする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212080"/>
            <a:ext cx="10911535" cy="822960"/>
          </a:xfrm>
          <a:prstGeom prst="roundRect">
            <a:avLst>
              <a:gd name="adj" fmla="val 10000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097280" y="5212080"/>
            <a:ext cx="99971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まずは1つ。朝の白湯か、夕食を同じ時間にするか、どちらかから。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 胃腸と食材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消化時間に注目 ／ 砂糖を控える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6675120" cy="3977640"/>
          </a:xfrm>
          <a:prstGeom prst="roundRect">
            <a:avLst>
              <a:gd name="adj" fmla="val 206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71907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消化にかかる時間の目安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960120" y="2194560"/>
            <a:ext cx="603504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395728"/>
            <a:ext cx="1234440" cy="493776"/>
          </a:xfrm>
          <a:prstGeom prst="roundRect">
            <a:avLst>
              <a:gd name="adj" fmla="val 16667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395728"/>
            <a:ext cx="1234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約1〜2時間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468880" y="228600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すぐおなかがすく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468880" y="263347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おかゆ・りんご・半熟卵・少量のごはん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960120" y="3246120"/>
            <a:ext cx="603504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280" y="3447288"/>
            <a:ext cx="1234440" cy="493776"/>
          </a:xfrm>
          <a:prstGeom prst="roundRect">
            <a:avLst>
              <a:gd name="adj" fmla="val 16667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3447288"/>
            <a:ext cx="1234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約2〜3時間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468880" y="333756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ふつう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468880" y="36850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牛乳・豆腐・煮魚・刺身・うどん・もち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60120" y="4297680"/>
            <a:ext cx="603504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97280" y="4498848"/>
            <a:ext cx="1234440" cy="493776"/>
          </a:xfrm>
          <a:prstGeom prst="roundRect">
            <a:avLst>
              <a:gd name="adj" fmla="val 16667"/>
            </a:avLst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4498848"/>
            <a:ext cx="1234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約3〜4時間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468880" y="438912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はらもちがいい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468880" y="47365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やきいも・アイスクリーム・脂の多い魚や肉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635240" y="1481328"/>
            <a:ext cx="3913632" cy="3977640"/>
          </a:xfrm>
          <a:prstGeom prst="roundRect">
            <a:avLst>
              <a:gd name="adj" fmla="val 2103"/>
            </a:avLst>
          </a:prstGeom>
          <a:solidFill>
            <a:srgbClr val="F8E7E4"/>
          </a:solidFill>
          <a:ln w="12700">
            <a:solidFill>
              <a:srgbClr val="F8E7E4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955280" y="175564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砂糖を控える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001000" y="2286000"/>
            <a:ext cx="3200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消化の負担が増える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血糖値が急に上がって下がる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腸内環境が乱れる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そのぶん栄養が不足する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955280" y="4315968"/>
            <a:ext cx="3291840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4C3B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955280" y="431596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胃腸だけでなく、</a:t>
            </a:r>
            <a:endParaRPr lang="en-US" sz="13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全身に影響します。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夜おそくなった日は「約1〜2時間」のものを選ぶと、翌朝の食欲が残ります。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 胃腸と食材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胃腸の働きが落ちているときの、最強フード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4206240" cy="3977640"/>
          </a:xfrm>
          <a:prstGeom prst="roundRect">
            <a:avLst>
              <a:gd name="adj" fmla="val 2069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51560" y="1810512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810512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最強 FOOD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51560" y="2377440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味噌汁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1051560" y="361188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一杯で、これだけのことが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同時にできます。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51560" y="45720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特別な材料も、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新しい調理も要りません。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257800" y="1481328"/>
            <a:ext cx="6291072" cy="932688"/>
          </a:xfrm>
          <a:prstGeom prst="roundRect">
            <a:avLst>
              <a:gd name="adj" fmla="val 882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532120" y="1700784"/>
            <a:ext cx="502920" cy="5029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532120" y="17007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17920" y="16002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温かくて、消化にやさしい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217920" y="196596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冷たいもので疲れた胃腸を、内側から温めます。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257800" y="2496312"/>
            <a:ext cx="6291072" cy="932688"/>
          </a:xfrm>
          <a:prstGeom prst="roundRect">
            <a:avLst>
              <a:gd name="adj" fmla="val 882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532120" y="2715768"/>
            <a:ext cx="502920" cy="502920"/>
          </a:xfrm>
          <a:prstGeom prst="ellipse">
            <a:avLst/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532120" y="27157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217920" y="261518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水分・塩分・ミネラルが一度に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217920" y="2980944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飲みものだけでは補えない分を、まとめてカバーできます。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257800" y="3511296"/>
            <a:ext cx="6291072" cy="932688"/>
          </a:xfrm>
          <a:prstGeom prst="roundRect">
            <a:avLst>
              <a:gd name="adj" fmla="val 882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532120" y="3730752"/>
            <a:ext cx="502920" cy="502920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32120" y="37307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217920" y="363016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具で、何でも足せる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217920" y="3995928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たんぱく質も野菜も、入れるだけ。献立を考えなくて済みます。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257800" y="4526280"/>
            <a:ext cx="6291072" cy="932688"/>
          </a:xfrm>
          <a:prstGeom prst="roundRect">
            <a:avLst>
              <a:gd name="adj" fmla="val 882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532120" y="4745736"/>
            <a:ext cx="502920" cy="5029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532120" y="47457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217920" y="464515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食欲がなくても入る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217920" y="501091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噛む力が要りません。汁だけでも、体には届きます。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0080" y="5650992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1097280" y="5650992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味噌そのものが発酵食品です。腸内環境にとってもうれしい一杯になります。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 胃腸と食材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具の選び方 — 3つから1つずつ選ぶだけ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2880360"/>
          </a:xfrm>
          <a:prstGeom prst="roundRect">
            <a:avLst>
              <a:gd name="adj" fmla="val 28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719072"/>
            <a:ext cx="2935224" cy="475488"/>
          </a:xfrm>
          <a:prstGeom prst="roundRect">
            <a:avLst>
              <a:gd name="adj" fmla="val 17308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719072"/>
            <a:ext cx="2935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たんぱく質から1つ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96112" y="2331720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331720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豆腐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96112" y="2715768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715768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油揚げ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" y="3099816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099816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卵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96112" y="3483864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483864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豚肉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6112" y="3867912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3867912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鮭・ツナ缶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98264" y="1481328"/>
            <a:ext cx="3392424" cy="2880360"/>
          </a:xfrm>
          <a:prstGeom prst="roundRect">
            <a:avLst>
              <a:gd name="adj" fmla="val 28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26864" y="1719072"/>
            <a:ext cx="2935224" cy="475488"/>
          </a:xfrm>
          <a:prstGeom prst="roundRect">
            <a:avLst>
              <a:gd name="adj" fmla="val 17308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6864" y="1719072"/>
            <a:ext cx="2935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野菜・きのこ・海藻から1つ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54296" y="2331720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64024" y="2331720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わかめ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654296" y="2715768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64024" y="2715768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冷凍ほうれん草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654296" y="3099816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64024" y="3099816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キャベツ・玉ねぎ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654296" y="3483864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64024" y="3483864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きのこ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654296" y="3867912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64024" y="3867912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大根・じゃがいも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56448" y="1481328"/>
            <a:ext cx="3392424" cy="2880360"/>
          </a:xfrm>
          <a:prstGeom prst="roundRect">
            <a:avLst>
              <a:gd name="adj" fmla="val 28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385048" y="1719072"/>
            <a:ext cx="2935224" cy="475488"/>
          </a:xfrm>
          <a:prstGeom prst="roundRect">
            <a:avLst>
              <a:gd name="adj" fmla="val 17308"/>
            </a:avLst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85048" y="1719072"/>
            <a:ext cx="2935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仕上げに1つ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8412480" y="2331720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522208" y="2331720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ねぎ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412480" y="2715768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22208" y="2715768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すりごま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412480" y="3099816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522208" y="3099816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しょうが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8412480" y="3483864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522208" y="3483864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みょうが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412480" y="3867912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522208" y="3867912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七味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40080" y="4498848"/>
            <a:ext cx="109115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この組み合わせがおすすめ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40080" y="4937760"/>
            <a:ext cx="3392424" cy="960120"/>
          </a:xfrm>
          <a:prstGeom prst="roundRect">
            <a:avLst>
              <a:gd name="adj" fmla="val 857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914400" y="502920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豆腐 ＋ わかめ ＋ ねぎ</a:t>
            </a:r>
            <a:endParaRPr lang="en-US" sz="1350" dirty="0"/>
          </a:p>
        </p:txBody>
      </p:sp>
      <p:sp>
        <p:nvSpPr>
          <p:cNvPr id="46" name="Text 44"/>
          <p:cNvSpPr/>
          <p:nvPr/>
        </p:nvSpPr>
        <p:spPr>
          <a:xfrm>
            <a:off x="914400" y="539496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まずはこれ。たんぱく質とミネラル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4398264" y="4937760"/>
            <a:ext cx="3392424" cy="960120"/>
          </a:xfrm>
          <a:prstGeom prst="roundRect">
            <a:avLst>
              <a:gd name="adj" fmla="val 857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4672584" y="502920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卵 ＋ ほうれん草 ＋ ごま</a:t>
            </a:r>
            <a:endParaRPr lang="en-US" sz="1350" dirty="0"/>
          </a:p>
        </p:txBody>
      </p:sp>
      <p:sp>
        <p:nvSpPr>
          <p:cNvPr id="49" name="Text 47"/>
          <p:cNvSpPr/>
          <p:nvPr/>
        </p:nvSpPr>
        <p:spPr>
          <a:xfrm>
            <a:off x="4672584" y="539496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鉄とたんぱく質。だるさ・立ちくらみに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8156448" y="4937760"/>
            <a:ext cx="3392424" cy="960120"/>
          </a:xfrm>
          <a:prstGeom prst="roundRect">
            <a:avLst>
              <a:gd name="adj" fmla="val 857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8430768" y="502920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豚肉 ＋ 大根 ＋ しょうが</a:t>
            </a:r>
            <a:endParaRPr lang="en-US" sz="1350" dirty="0"/>
          </a:p>
        </p:txBody>
      </p:sp>
      <p:sp>
        <p:nvSpPr>
          <p:cNvPr id="52" name="Text 50"/>
          <p:cNvSpPr/>
          <p:nvPr/>
        </p:nvSpPr>
        <p:spPr>
          <a:xfrm>
            <a:off x="8430768" y="539496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ビタミンB1で疲労回復。体も温まる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具が2つ入れば十分です。冷凍野菜と乾燥わかめを常備しておくと、包丁を使わずに作れます。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 胃腸と食材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旬の食材を食べる — これからの季節におすすめ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4846320" cy="640080"/>
          </a:xfrm>
          <a:prstGeom prst="roundRect">
            <a:avLst>
              <a:gd name="adj" fmla="val 128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636776"/>
            <a:ext cx="438912" cy="43891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367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81328" y="1536192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栄養価が高い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313432"/>
            <a:ext cx="4846320" cy="640080"/>
          </a:xfrm>
          <a:prstGeom prst="roundRect">
            <a:avLst>
              <a:gd name="adj" fmla="val 128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2414016"/>
            <a:ext cx="438912" cy="438912"/>
          </a:xfrm>
          <a:prstGeom prst="ellipse">
            <a:avLst/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41401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81328" y="2313432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美味しさが増す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090672"/>
            <a:ext cx="4846320" cy="640080"/>
          </a:xfrm>
          <a:prstGeom prst="roundRect">
            <a:avLst>
              <a:gd name="adj" fmla="val 128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68680" y="3191256"/>
            <a:ext cx="438912" cy="438912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319125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81328" y="3090672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価格が安くなる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3867912"/>
            <a:ext cx="4846320" cy="640080"/>
          </a:xfrm>
          <a:prstGeom prst="roundRect">
            <a:avLst>
              <a:gd name="adj" fmla="val 128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68680" y="3968496"/>
            <a:ext cx="438912" cy="438912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396849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81328" y="3867912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その季節に必要な栄養素が摂れる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806440" y="1536192"/>
            <a:ext cx="5742432" cy="3035808"/>
          </a:xfrm>
          <a:prstGeom prst="roundRect">
            <a:avLst>
              <a:gd name="adj" fmla="val 271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126480" y="1783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これからが旬の食材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126480" y="2286000"/>
            <a:ext cx="841248" cy="347472"/>
          </a:xfrm>
          <a:prstGeom prst="roundRect">
            <a:avLst>
              <a:gd name="adj" fmla="val 18421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26480" y="2286000"/>
            <a:ext cx="8412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魚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086600" y="228600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秋刀魚・鮭・いわし・さば・かつお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126480" y="2724912"/>
            <a:ext cx="841248" cy="347472"/>
          </a:xfrm>
          <a:prstGeom prst="roundRect">
            <a:avLst>
              <a:gd name="adj" fmla="val 18421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26480" y="2724912"/>
            <a:ext cx="8412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野菜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086600" y="272491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かぼちゃ・れんこん・青梗菜・人参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126480" y="3163824"/>
            <a:ext cx="841248" cy="347472"/>
          </a:xfrm>
          <a:prstGeom prst="roundRect">
            <a:avLst>
              <a:gd name="adj" fmla="val 18421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26480" y="3163824"/>
            <a:ext cx="8412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きのこ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086600" y="316382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生椎茸・舞茸・しめじ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126480" y="3602736"/>
            <a:ext cx="841248" cy="347472"/>
          </a:xfrm>
          <a:prstGeom prst="roundRect">
            <a:avLst>
              <a:gd name="adj" fmla="val 18421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26480" y="3602736"/>
            <a:ext cx="8412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いも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086600" y="360273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さつま芋・長芋・里芋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126480" y="4041648"/>
            <a:ext cx="841248" cy="347472"/>
          </a:xfrm>
          <a:prstGeom prst="roundRect">
            <a:avLst>
              <a:gd name="adj" fmla="val 18421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0" y="4041648"/>
            <a:ext cx="8412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果物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7086600" y="404164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梨・柿・栗・いちじく・ぶどう・りんご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40080" y="4709160"/>
            <a:ext cx="10911535" cy="1234440"/>
          </a:xfrm>
          <a:prstGeom prst="roundRect">
            <a:avLst>
              <a:gd name="adj" fmla="val 6667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1097280" y="4846320"/>
            <a:ext cx="99971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秋野菜には、夏の疲労を回復して体を温める働きがあります。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1097280" y="5285232"/>
            <a:ext cx="99971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とくに根菜は夏野菜より水分が少なく、加熱すると甘みが増します。冷たいものを摂りすぎて弱った胃腸の回復や、便秘の解消にも。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 胃腸と食材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これから起こりやすい症状 × おすすめの食材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2624328" cy="329184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1755648"/>
            <a:ext cx="2185416" cy="548640"/>
          </a:xfrm>
          <a:prstGeom prst="roundRect">
            <a:avLst>
              <a:gd name="adj" fmla="val 15000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755648"/>
            <a:ext cx="2185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風邪から守る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914400" y="2514600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514600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さつまいも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14400" y="3172968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172968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きのこ類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14400" y="3831336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831336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かぼちゃ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552444" y="1481328"/>
            <a:ext cx="2624328" cy="329184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771900" y="1755648"/>
            <a:ext cx="2185416" cy="548640"/>
          </a:xfrm>
          <a:prstGeom prst="roundRect">
            <a:avLst>
              <a:gd name="adj" fmla="val 15000"/>
            </a:avLst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71900" y="1755648"/>
            <a:ext cx="2185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花粉症・喘息に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3826764" y="2514600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26764" y="2514600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れんこん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826764" y="3172968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26764" y="3172968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梨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826764" y="3831336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26764" y="3831336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ぎんなん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64808" y="1481328"/>
            <a:ext cx="2624328" cy="329184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684264" y="1755648"/>
            <a:ext cx="2185416" cy="548640"/>
          </a:xfrm>
          <a:prstGeom prst="roundRect">
            <a:avLst>
              <a:gd name="adj" fmla="val 15000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84264" y="1755648"/>
            <a:ext cx="2185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夏の疲れを癒やす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739128" y="2514600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39128" y="2514600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秋刀魚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739128" y="3172968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39128" y="3172968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里芋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739128" y="3831336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39128" y="3831336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かつお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9377172" y="1481328"/>
            <a:ext cx="2624328" cy="329184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9596628" y="1755648"/>
            <a:ext cx="2185416" cy="548640"/>
          </a:xfrm>
          <a:prstGeom prst="roundRect">
            <a:avLst>
              <a:gd name="adj" fmla="val 15000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596628" y="1755648"/>
            <a:ext cx="2185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乾燥からお肌を守る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9651492" y="2514600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51492" y="2514600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栗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651492" y="3172968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651492" y="3172968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柿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9651492" y="3831336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51492" y="3831336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カリフラワー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40080" y="4956048"/>
            <a:ext cx="10911535" cy="960120"/>
          </a:xfrm>
          <a:prstGeom prst="roundRect">
            <a:avLst>
              <a:gd name="adj" fmla="val 8571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1097280" y="4956048"/>
            <a:ext cx="99971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ビタミンC・B1・B2・K、そして食物繊維。秋の食材にまとめて入っています。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6. 再開前の準備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逆算カレンダー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2624328" cy="361188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755648"/>
            <a:ext cx="2112264" cy="502920"/>
          </a:xfrm>
          <a:prstGeom prst="roundRect">
            <a:avLst>
              <a:gd name="adj" fmla="val 16364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1755648"/>
            <a:ext cx="2112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1週間前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77824" y="2487168"/>
            <a:ext cx="218541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起床時刻をほぼ通常に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宿題の残りを数える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夕食を30分早める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土日も同じ時間で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552444" y="1481328"/>
            <a:ext cx="2624328" cy="361188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808476" y="1755648"/>
            <a:ext cx="2112264" cy="502920"/>
          </a:xfrm>
          <a:prstGeom prst="roundRect">
            <a:avLst>
              <a:gd name="adj" fmla="val 16364"/>
            </a:avLst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08476" y="1755648"/>
            <a:ext cx="2112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3日前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790188" y="2487168"/>
            <a:ext cx="218541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提出物・持ち物の確認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上履き・体操服の確認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通学路を1度歩く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髪と爪を切る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64808" y="1481328"/>
            <a:ext cx="2624328" cy="361188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720840" y="1755648"/>
            <a:ext cx="2112264" cy="502920"/>
          </a:xfrm>
          <a:prstGeom prst="roundRect">
            <a:avLst>
              <a:gd name="adj" fmla="val 16364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20840" y="1755648"/>
            <a:ext cx="2112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前日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702552" y="2487168"/>
            <a:ext cx="218541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夕食とお風呂を早めに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支度を玄関に置く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期待を言いすぎない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早めに部屋を暗く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377172" y="1481328"/>
            <a:ext cx="2624328" cy="361188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633204" y="1755648"/>
            <a:ext cx="2112264" cy="502920"/>
          </a:xfrm>
          <a:prstGeom prst="roundRect">
            <a:avLst>
              <a:gd name="adj" fmla="val 16364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33204" y="1755648"/>
            <a:ext cx="2112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当日の朝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614916" y="2487168"/>
            <a:ext cx="218541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10分早く起こす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食べやすい朝ごはん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送り出しは短く明るく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予定を詰め込まない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5349240"/>
            <a:ext cx="10911535" cy="822960"/>
          </a:xfrm>
          <a:prstGeom prst="roundRect">
            <a:avLst>
              <a:gd name="adj" fmla="val 10000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097280" y="5349240"/>
            <a:ext cx="99971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全部やらなくて大丈夫。各列から1つずつ選ぶくらいで十分です。</a:t>
            </a:r>
            <a:endParaRPr lang="en-US" sz="15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7. スタート作戦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ワーク：わが家の「2学期スタート作戦」を3つ決める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379476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755648"/>
            <a:ext cx="548640" cy="54864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55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27632" y="1755648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起きる時間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2468880"/>
            <a:ext cx="27523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家族で1つに。土日もそろえられると、いちばんラクになります。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60120" y="3493008"/>
            <a:ext cx="2752344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3D0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3493008"/>
            <a:ext cx="256946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3555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＿＿ 時 ＿＿ 分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398264" y="1481328"/>
            <a:ext cx="3392424" cy="379476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18304" y="1755648"/>
            <a:ext cx="548640" cy="548640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18304" y="1755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385816" y="1755648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朝ごはんの定番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718304" y="2468880"/>
            <a:ext cx="27523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3つ決めて、まわします。考えなくていい状態にするのが目的です。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718304" y="3493008"/>
            <a:ext cx="2752344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3D0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9744" y="3493008"/>
            <a:ext cx="256946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3555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＿＿＿＿＿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3555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＿＿＿＿＿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3555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＿＿＿＿＿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156448" y="1481328"/>
            <a:ext cx="3392424" cy="379476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76488" y="1755648"/>
            <a:ext cx="548640" cy="5486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76488" y="1755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144000" y="1755648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夜のスイッチ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476488" y="2468880"/>
            <a:ext cx="27523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お風呂の時間／照明を落とす時間／スマホの置き場から、1つだけ。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476488" y="3493008"/>
            <a:ext cx="2752344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3D0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67928" y="3493008"/>
            <a:ext cx="256946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3555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＿＿＿＿＿＿＿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40080" y="5440680"/>
            <a:ext cx="10911535" cy="749808"/>
          </a:xfrm>
          <a:prstGeom prst="roundRect">
            <a:avLst>
              <a:gd name="adj" fmla="val 10976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097280" y="5440680"/>
            <a:ext cx="999713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決めるのは3つだけ。多いほど、続きません。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7. スタート作戦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続けるための4つのコツ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5266944" cy="1737360"/>
          </a:xfrm>
          <a:prstGeom prst="roundRect">
            <a:avLst>
              <a:gd name="adj" fmla="val 473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87552" y="1847088"/>
            <a:ext cx="658368" cy="65836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8470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847088" y="1810512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全部やらない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847088" y="2286000"/>
            <a:ext cx="3712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今日決めた3つ以外は、9月に入ってから。増やすのはいつでもできます。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81928" y="1536192"/>
            <a:ext cx="5266944" cy="1737360"/>
          </a:xfrm>
          <a:prstGeom prst="roundRect">
            <a:avLst>
              <a:gd name="adj" fmla="val 473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29400" y="1847088"/>
            <a:ext cx="658368" cy="658368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29400" y="18470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488936" y="1810512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3日できたら合格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488936" y="2286000"/>
            <a:ext cx="3712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7日連続を目標にすると、4日目に折れます。3日単位で数えてください。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502152"/>
            <a:ext cx="5266944" cy="1737360"/>
          </a:xfrm>
          <a:prstGeom prst="roundRect">
            <a:avLst>
              <a:gd name="adj" fmla="val 473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87552" y="3813048"/>
            <a:ext cx="658368" cy="65836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7552" y="38130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847088" y="3776472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例外日を決めておく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847088" y="4251960"/>
            <a:ext cx="3712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花火、帰省、お泊まり。「この日は崩れる」と決めておけば、翌日に戻れます。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81928" y="3502152"/>
            <a:ext cx="5266944" cy="1737360"/>
          </a:xfrm>
          <a:prstGeom prst="roundRect">
            <a:avLst>
              <a:gd name="adj" fmla="val 473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629400" y="3813048"/>
            <a:ext cx="658368" cy="658368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29400" y="38130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488936" y="3776472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子どもに選ばせる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488936" y="4251960"/>
            <a:ext cx="3712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選択肢は親が2つ出す。決めるのは本人。決めた人が、いちばん動きます。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5577840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097280" y="5577840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うまくいかない日があって当たり前です。戻れることのほうが、ずっと大事。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327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今日の3つの持ち帰り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11535" cy="1115568"/>
          </a:xfrm>
          <a:prstGeom prst="roundRect">
            <a:avLst>
              <a:gd name="adj" fmla="val 7377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819656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11680" y="1783080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夜より先に、朝を動かす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011680" y="2221992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眠くなる時間は、その日の朝に決まります。起床を15分ずつ前へ。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898648"/>
            <a:ext cx="10911535" cy="1115568"/>
          </a:xfrm>
          <a:prstGeom prst="roundRect">
            <a:avLst>
              <a:gd name="adj" fmla="val 7377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3118104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011680" y="3081528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食事は「単品にしない」だけで変わる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2011680" y="352044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パンだけ・麺だけをやめて、1つ足す。それで午前中がもちます。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197096"/>
            <a:ext cx="10911535" cy="1115568"/>
          </a:xfrm>
          <a:prstGeom prst="roundRect">
            <a:avLst>
              <a:gd name="adj" fmla="val 7377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4416552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011680" y="4379976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決めるのは3つ。完璧より、わが家の型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011680" y="4818888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起きる時間・朝ごはんの定番・夜のスイッチ。まずはこの3つだけ。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57150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2学期の朝が、少しだけラクになりますように。</a:t>
            </a:r>
            <a:endParaRPr lang="en-US" sz="17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いきなりギアチェンジをしないでください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8092440" cy="1207008"/>
          </a:xfrm>
          <a:prstGeom prst="roundRect">
            <a:avLst>
              <a:gd name="adj" fmla="val 681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41832" y="1856232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18562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91640" y="17373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季節の変わり目は、体に大きな負担がかかります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691640" y="217627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夏から秋へ切り替わるこの時期は、大人も子どもも消耗しています。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953512"/>
            <a:ext cx="8092440" cy="1207008"/>
          </a:xfrm>
          <a:prstGeom prst="roundRect">
            <a:avLst>
              <a:gd name="adj" fmla="val 681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41832" y="3273552"/>
            <a:ext cx="566928" cy="566928"/>
          </a:xfrm>
          <a:prstGeom prst="ellipse">
            <a:avLst/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41832" y="32735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91640" y="315468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今年も夏の暑さが厳しかったことが、これからの不調につながります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691640" y="359359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今の疲れは、9月・10月になってから体と心に出てきます。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370832"/>
            <a:ext cx="8092440" cy="1207008"/>
          </a:xfrm>
          <a:prstGeom prst="roundRect">
            <a:avLst>
              <a:gd name="adj" fmla="val 681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41832" y="4690872"/>
            <a:ext cx="566928" cy="566928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41832" y="46908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91640" y="457200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体に合わせて、ゆっくりと秋へシフトしてください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691640" y="501091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一気に戻すのではなく、今日から少しずつ。それがいちばんの近道です。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006840" y="1536192"/>
            <a:ext cx="2542032" cy="4224528"/>
          </a:xfrm>
          <a:prstGeom prst="roundRect">
            <a:avLst>
              <a:gd name="adj" fmla="val 3237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281160" y="19202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1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急がなくて</a:t>
            </a:r>
            <a:endParaRPr lang="en-US" sz="2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1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大丈夫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9281160" y="3108960"/>
            <a:ext cx="2011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今日決めた3つを、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明日の朝から。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1つできれば、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それで十分です。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ご家族のペースで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進めてください。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327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1737360"/>
            <a:ext cx="5394960" cy="53949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880360"/>
            <a:ext cx="3108960" cy="310896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965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 &amp; 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2377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ご質問をどうぞ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333756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チャットでも、お声でも大丈夫です。</a:t>
            </a: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「うちの場合はどうしたら」が、いちばん役に立ちます。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4434840"/>
            <a:ext cx="6766560" cy="1005840"/>
          </a:xfrm>
          <a:prstGeom prst="roundRect">
            <a:avLst>
              <a:gd name="adj" fmla="val 9091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4434840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今日決めた3つを、明日の朝から。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まずは「起きる時間」ひとつで大丈夫です。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56235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ご参加ありがとうございました。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夏休みの終わり 〜食と生活リズムの整え方〜 第2回</dc:title>
  <dc:subject>PptxGenJS Presentation</dc:subject>
  <dc:creator>髙落まどか</dc:creator>
  <cp:lastModifiedBy>髙落まどか</cp:lastModifiedBy>
  <cp:revision>1</cp:revision>
  <dcterms:created xsi:type="dcterms:W3CDTF">2026-08-15T03:11:06Z</dcterms:created>
  <dcterms:modified xsi:type="dcterms:W3CDTF">2026-08-15T03:11:06Z</dcterms:modified>
</cp:coreProperties>
</file>
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菓子パン・ジュースだけ</c:v>
                </c:pt>
              </c:strCache>
            </c:strRef>
          </c:tx>
          <c:spPr>
            <a:solidFill>
              <a:srgbClr val="D9822B"/>
            </a:solidFill>
            <a:ln w="50800" cap="flat">
              <a:solidFill>
                <a:srgbClr val="D98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822B"/>
              </a:solidFill>
              <a:ln w="9525" cap="flat">
                <a:solidFill>
                  <a:srgbClr val="D98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</c:v>
                </c:pt>
                <c:pt idx="1">
                  <c:v>168</c:v>
                </c:pt>
                <c:pt idx="2">
                  <c:v>74</c:v>
                </c:pt>
                <c:pt idx="3">
                  <c:v>82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ごはん＋卵＋みそ汁</c:v>
                </c:pt>
              </c:strCache>
            </c:strRef>
          </c:tx>
          <c:spPr>
            <a:solidFill>
              <a:srgbClr val="3F8A72"/>
            </a:solidFill>
            <a:ln w="50800" cap="flat">
              <a:solidFill>
                <a:srgbClr val="3F8A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F8A72"/>
              </a:solidFill>
              <a:ln w="9525" cap="flat">
                <a:solidFill>
                  <a:srgbClr val="3F8A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</c:v>
                </c:pt>
                <c:pt idx="1">
                  <c:v>126</c:v>
                </c:pt>
                <c:pt idx="2">
                  <c:v>112</c:v>
                </c:pt>
                <c:pt idx="3">
                  <c:v>102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  <c:min val="60"/>
        </c:scaling>
        <c:delete val="1"/>
        <c:axPos val="l"/>
        <c:majorGridlines>
          <c:spPr>
            <a:ln w="12700" cap="flat">
              <a:solidFill>
                <a:srgbClr val="ED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3A5F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開始のあいさつ。今日は第2回。前回は「食事の考え方」、今回はそれを2学期に向けた1日の流れに落とし込みます。
21:30スタート、23:00終了。途中でチャットに書き込んでいただいてOKであることを伝える。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ゴールを先に共有する。特に3つめ(ワーク)があることを伝えておくと、聞き方が変わる。
「知識を増やす会ではなく、決める会です」と一言添える。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1回目の内容を3点だけ短く復習。時間をかけすぎない(3分程度)。
初参加の方がいる可能性があるので、今日だけで完結すると必ず言う。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流れを見せて安心してもらう。ワークが後半にあることをここでも予告。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共感パート。チャットで「いくつ当てはまりましたか？」と聞くと参加感が出る。
ここで大事なのは、親の責任・子の性格の問題にしないこと。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「うまくいかないのは、やり方の問題」と伝えるパート。親を責めない。
体内時計は1日にずらせる幅が限られている、という点だけ押さえてもらう。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今日の中心メッセージ。ここは時間をかけて、ゆっくり話す。
「夜は結果、朝が原因」という言い方を繰り返す。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ここから20分。朝パート。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3ステップの順番を強調。特に「朝ごはんから始めない」こと。
起床時刻が決まっていないのに朝食を頑張ると、必ず食卓でもめる。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実際に手元のカレンダーに書き込んでもらう。
土日をそろえるのが一番の山場。ここで崩れると月曜が元に戻る。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「朝ごはん＝きちんとした食卓」の思い込みを外す。
レベル1でも意味がある(内臓の時計が動く)ことを伝えると、親の気持ちが軽くなる。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声かけは今日から変えられる部分。実演するとわかりやすい。
「起きられたね」は結果ではなく行動をほめる例。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ここから20分。食事パート。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医療的な診断ではないことを必ず明言する。
「怠けている」に見えることが、栄養のサインであることがある、という視点の提供にとどめる。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図はイメージであることを口頭でも言う。
持ち帰ってほしいキーワードは「単品にしない」。次のスライドで具体例につなげる。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第1回の「足し算」の考え方がここに戻ってくる。
作る量を増やす話ではなく、常備できるもの(卵・納豆・チーズ・ツナ)を置いておく話として伝える。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「食べない」に悩む保護者は多い。ここは特に丁寧に。
受診の目安を具体的に示すことで、抱え込みを防ぐ。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ここから20分。夜パート。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夜にコントロールできる要素を3つに絞る。あれこれやらせない。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夜と朝がつながっていることを示すスライド。「朝食べない」の原因が夕食にあることは多い。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4つ全部やろうとすると挫折する。最初の1つ(お風呂)だけを提案する。
スマホの充電場所は、後半のワークの選択肢にもなる。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スライド7で話した「朝が原因」に戻る。ここで一貫性を出す。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ここから10分。準備パート。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始業式の日付は自治体差があるので「1週間前」など相対表現にしてある。
参加者に、自分の家の始業日を紙に書いてもらうと具体的になる。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デリケートなパート。断定せず、選択肢を示す姿勢で。
相談先を具体名で挙げることが、この10分の一番の価値になる。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ここから10分。ワーク。紙とペンを用意してもらう。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5分ほど時間を取って、実際に書いてもらう。
書けた方はチャットに1つだけ書いてもらうと、他の家庭の例が参考になる。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完璧主義をゆるめるパート。ここで安心して終われるようにする。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3つに絞って言い切る。ここで参加者にメモを取ってもらう時間を10秒とる。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質疑5分。答えきれない質問は後日まとめて共有する旨を伝えて終了。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41732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-27432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全2回オンライン講座 ／ 第2回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夏休みの終わり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12724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食と生活リズムの整え方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2学期に向けて、朝・食事・夜の過ごし方をどう戻していくか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617720"/>
            <a:ext cx="5074920" cy="56692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 w="12700">
            <a:solidFill>
              <a:srgbClr val="35557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61772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8月17日（月）21:30 〜 23:00（90分）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この90分で持ち帰っていただくこと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246120"/>
          </a:xfrm>
          <a:prstGeom prst="roundRect">
            <a:avLst>
              <a:gd name="adj" fmla="val 253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640080" cy="64008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606040"/>
            <a:ext cx="2752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朝から戻す手順がわかる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3364992"/>
            <a:ext cx="2752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「夜を早める」ではうまくいきません。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朝を動かすと、夜は後からついてきます。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246120"/>
          </a:xfrm>
          <a:prstGeom prst="roundRect">
            <a:avLst>
              <a:gd name="adj" fmla="val 253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640080" cy="64008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18304" y="2606040"/>
            <a:ext cx="2752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不調を食事から見る視点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18304" y="3364992"/>
            <a:ext cx="2752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起きられない・だるい・イライラを、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「性格」ではなく「食事」から見てみます。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246120"/>
          </a:xfrm>
          <a:prstGeom prst="roundRect">
            <a:avLst>
              <a:gd name="adj" fmla="val 253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640080" cy="64008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76488" y="2606040"/>
            <a:ext cx="2752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わが家の作戦が3つ決まる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6488" y="3364992"/>
            <a:ext cx="2752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最後にワークがあります。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決めるのは3つだけ。多いと続きません。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95604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495604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正解を覚える時間ではありません。「わが家はこうする」を決めて帰る時間です。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LOOK 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前回（第1回）のふりかえり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470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64208" y="17556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食事は「足し算」で考える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64208" y="21579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減らす・やめさせるより、1品足すほうが早くて続きます。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186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64208" y="31272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体は、食べたものと眠った時間でできている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64208" y="3529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どちらか片方だけを頑張っても、うまくいきません。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793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902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90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64208" y="44988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完璧な食事より、続く食事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64208" y="49011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週の半分できていれば十分。ゼロか100かにしない。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83880" y="1536192"/>
            <a:ext cx="3364992" cy="3913632"/>
          </a:xfrm>
          <a:prstGeom prst="roundRect">
            <a:avLst>
              <a:gd name="adj" fmla="val 244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5820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今回やること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23774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この3つを、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「1日の時間割」に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落とし込みます。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206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 → 食事 → 夜 の順に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見ていきます。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第1回に参加されていない方も、今日だけで完結する内容です。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今日の流れ（90分）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54864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00784"/>
            <a:ext cx="109728" cy="109728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148132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／ 夏休み後半に起きていること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80015" y="14813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39696"/>
            <a:ext cx="10911535" cy="54864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240280"/>
            <a:ext cx="347472" cy="3474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240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139696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2学期前に戻したい「朝のリズム」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180015" y="213969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798064"/>
            <a:ext cx="10911535" cy="54864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2898648"/>
            <a:ext cx="347472" cy="3474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28986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279806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起きられない、だるい、イライラへの「食事の見方」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180015" y="279806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20分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456432"/>
            <a:ext cx="10911535" cy="54864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557016"/>
            <a:ext cx="347472" cy="3474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557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45643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夏休み後半から整える「夜ごはんと睡眠」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180015" y="345643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20分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4114800"/>
            <a:ext cx="10911535" cy="54864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41248" y="4215384"/>
            <a:ext cx="347472" cy="3474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" y="4215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371600" y="41148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学校再開前に慌てないための準備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180015" y="4114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4773168"/>
            <a:ext cx="10911535" cy="54864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" y="4873752"/>
            <a:ext cx="347472" cy="347472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F8A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4873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71600" y="477316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わが家の「2学期スタート作戦」（ワーク）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180015" y="477316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5431536"/>
            <a:ext cx="10911535" cy="54864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60120" y="5650992"/>
            <a:ext cx="109728" cy="109728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5431536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／ 質疑応答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180015" y="54315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途中の質問はチャットへ。まとめて最後にお答えします。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夏休み後半、こんなことありませんか？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5266944" cy="603504"/>
          </a:xfrm>
          <a:prstGeom prst="roundRect">
            <a:avLst>
              <a:gd name="adj" fmla="val 136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6642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53312" y="150876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寝る時間が1〜2時間おそくなった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58568"/>
            <a:ext cx="5266944" cy="603504"/>
          </a:xfrm>
          <a:prstGeom prst="roundRect">
            <a:avLst>
              <a:gd name="adj" fmla="val 136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96112" y="241401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53312" y="2258568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朝は10時、11時まで起きてこない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008376"/>
            <a:ext cx="5266944" cy="603504"/>
          </a:xfrm>
          <a:prstGeom prst="roundRect">
            <a:avLst>
              <a:gd name="adj" fmla="val 136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16382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3008376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朝ごはんが菓子パンだけ／食べない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58184"/>
            <a:ext cx="5266944" cy="603504"/>
          </a:xfrm>
          <a:prstGeom prst="roundRect">
            <a:avLst>
              <a:gd name="adj" fmla="val 136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91363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53312" y="3758184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昼はそうめん・冷やし中華が続く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81928" y="1508760"/>
            <a:ext cx="5266944" cy="603504"/>
          </a:xfrm>
          <a:prstGeom prst="roundRect">
            <a:avLst>
              <a:gd name="adj" fmla="val 136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16642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95160" y="150876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冷たい飲み物とアイスが止まらない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81928" y="2258568"/>
            <a:ext cx="5266944" cy="603504"/>
          </a:xfrm>
          <a:prstGeom prst="roundRect">
            <a:avLst>
              <a:gd name="adj" fmla="val 136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241401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2258568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夕方から元気、夜がいちばん元気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81928" y="3008376"/>
            <a:ext cx="5266944" cy="603504"/>
          </a:xfrm>
          <a:prstGeom prst="roundRect">
            <a:avLst>
              <a:gd name="adj" fmla="val 136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7960" y="316382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3008376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宿題が残っていて夜ふかし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81928" y="3758184"/>
            <a:ext cx="5266944" cy="603504"/>
          </a:xfrm>
          <a:prstGeom prst="roundRect">
            <a:avLst>
              <a:gd name="adj" fmla="val 136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37960" y="391363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3758184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ちょっとしたことでイライラ・グズグズ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4709160"/>
            <a:ext cx="10911535" cy="1143000"/>
          </a:xfrm>
          <a:prstGeom prst="roundRect">
            <a:avLst>
              <a:gd name="adj" fmla="val 72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97280" y="4846320"/>
            <a:ext cx="9997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ひとつでも当てはまれば、今日の内容はそのまま使えます。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097280" y="5266944"/>
            <a:ext cx="9997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これは「だらけている」からではありません。夏休みは、そうなるようにできています。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なぜ「直前に一気に戻す」とうまくいかないのか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01752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55648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B454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487168"/>
            <a:ext cx="2752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体内時計は一気に動かない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60120" y="3273552"/>
            <a:ext cx="2752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ずらせるのは1日15〜30分ほど。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「3日で2時間戻す」には無理があります。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01752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55648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B454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18304" y="2487168"/>
            <a:ext cx="2752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「早く寝なさい」では眠くならない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718304" y="3273552"/>
            <a:ext cx="2752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眠気は、起きた時刻と浴びた光で決まります。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布団に入れても眠れず、親子で消耗。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017520"/>
          </a:xfrm>
          <a:prstGeom prst="roundRect">
            <a:avLst>
              <a:gd name="adj" fmla="val 27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55648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B454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76488" y="2487168"/>
            <a:ext cx="27523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3つ同時に言われても動けない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476488" y="3273552"/>
            <a:ext cx="2752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「寝ろ・起きろ・食べろ」が一度に来ると、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子どもにできるのは反発だけになります。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736592"/>
            <a:ext cx="10911535" cy="1005840"/>
          </a:xfrm>
          <a:prstGeom prst="roundRect">
            <a:avLst>
              <a:gd name="adj" fmla="val 8182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4736592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だからこそ、8月の後半から「少しずつ」。今日がちょうどいいタイミングです。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順番を変えるだけで、ぐっとラクになります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1965960"/>
          </a:xfrm>
          <a:prstGeom prst="roundRect">
            <a:avLst>
              <a:gd name="adj" fmla="val 4186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うまくいかない順番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05840" y="2084832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84832"/>
            <a:ext cx="13716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夜を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早める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377440" y="2084832"/>
            <a:ext cx="2560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33472" y="2084832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33472" y="2084832"/>
            <a:ext cx="13716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起こす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05072" y="2084832"/>
            <a:ext cx="2560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61104" y="2084832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61104" y="2084832"/>
            <a:ext cx="13716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朝ごはんを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食べさせる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47688" y="1481328"/>
            <a:ext cx="5266944" cy="1965960"/>
          </a:xfrm>
          <a:prstGeom prst="roundRect">
            <a:avLst>
              <a:gd name="adj" fmla="val 418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13448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うまくいく順番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013448" y="2084832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BCD8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13448" y="2084832"/>
            <a:ext cx="13716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起こす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85048" y="2084832"/>
            <a:ext cx="2560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41080" y="2084832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BCD8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41080" y="2084832"/>
            <a:ext cx="13716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光を浴びて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0012680" y="2084832"/>
            <a:ext cx="25603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268712" y="2084832"/>
            <a:ext cx="137160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BCD8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68712" y="2084832"/>
            <a:ext cx="13716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夜が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早まる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3730752"/>
            <a:ext cx="10911535" cy="1417320"/>
          </a:xfrm>
          <a:prstGeom prst="roundRect">
            <a:avLst>
              <a:gd name="adj" fmla="val 580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188720" y="393192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「夜」を動かそうとしない。動かすのは「朝」だけ。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188720" y="4443984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起きる時間が前に動けば、眠くなる時間も自然と前に動きます。夜は「結果」であって、「原因」ではありません。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今日いちばん覚えて帰っていただきたいのは、この1枚です。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754880" cy="4754880"/>
          </a:xfrm>
          <a:prstGeom prst="ellipse">
            <a:avLst/>
          </a:prstGeom>
          <a:solidFill>
            <a:srgbClr val="1E3A5F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2学期前に戻したい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「朝のリズム」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4526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起きる時間の決め方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983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光と朝ごはんという2つのスイッチ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5440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15分ずつ前倒しする具体的な進め方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朝のリズム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朝を戻す3ステップ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7393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7393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47088" y="166420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起きる時間を先に決める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47088" y="208483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寝る時間ではなく、起きる時間から決めます。2学期の起床時刻を、家族で1つに。まずは紙に書いて貼るところから。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19125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9125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47088" y="308152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起きて30分以内に光を浴びる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47088" y="35021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カーテンを開ける、ベランダに出る、それだけ。体内時計をリセットするいちばん強いスイッチは「光」です。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1596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60857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60857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47088" y="449884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朝ごはんで、体の中を起こす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47088" y="49194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食べると内臓の時計が動きはじめます。量は問いません。まず一口、口に入れることから。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160520"/>
          </a:xfrm>
          <a:prstGeom prst="roundRect">
            <a:avLst>
              <a:gd name="adj" fmla="val 2922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0684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順番が大事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06840" y="228600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①→②→③の順に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やってください。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③だけを先に頑張ると、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「食べない」で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もめて終わります。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①が決まらないうちは、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②も③も動きません。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朝のリズム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15分ずつ前倒し作戦（例：9:30 → 6:45）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78181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37160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日にち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起きる時間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この日のねらい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8/18（火）〜19（水）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まずは15分だけ。起きたらカーテンを開ける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8/20（木）〜21（金）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朝ごはんを一口。飲みものだけでもOK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8/22（土）〜23（日）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土日も同じ時間で。ここが最大の山場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8/24（月）〜25（火）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朝ごはんを2品に（主食＋たんぱく質）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8/26（水）〜27（木）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着替え・支度まで通しで練習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8/28（金）〜31（月）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学校と同じ時間で通し運転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32520" y="1481328"/>
            <a:ext cx="2816352" cy="3291840"/>
          </a:xfrm>
          <a:prstGeom prst="roundRect">
            <a:avLst>
              <a:gd name="adj" fmla="val 2922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00684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006840" y="221284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・2日で15分ずつ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・土日もそろえる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・目標時刻から逆算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・戻すのは「起床」だけ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006840" y="39319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残り日数が少ないときは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30分刻みでも大丈夫。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ゼロよりずっと違います。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732520" y="4937760"/>
            <a:ext cx="2816352" cy="932688"/>
          </a:xfrm>
          <a:prstGeom prst="roundRect">
            <a:avLst>
              <a:gd name="adj" fmla="val 8824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006840" y="4937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寝る時間は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決めなくてOK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起床時刻の一例です。ご家庭の「今の起床時刻」と「2学期の起床時刻」に合わせて刻んでください。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朝のリズム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朝ごはんの「最低ライン」3レベル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5C6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1832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まず水分＋一口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麦茶・牛乳・スープ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バナナ／ヨーグルト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一口サイズのおにぎり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41832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「朝は食べられない」子は、ここからで十分です。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0016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0016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0016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炭水化物＋たんぱく質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64024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おにぎり＋ゆで卵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パン＋チーズ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ごはん＋納豆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00016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ここまで来ると、午前中の集中がもちます。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58200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58200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＋汁物か果物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522208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みそ汁・具だくさんスープ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果物を1品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野菜をひとつまみ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水分とミネラルも一緒に。毎日でなくて大丈夫。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3035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530352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目指すのは LEVEL 2。毎日 LEVEL 3 でなくて大丈夫です。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朝のリズム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しんどくなる声かけ／ラクになる声かけ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611880"/>
          </a:xfrm>
          <a:prstGeom prst="roundRect">
            <a:avLst>
              <a:gd name="adj" fmla="val 2278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755648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B454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しんどくなる声かけ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4231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「早く食べなさい」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302666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「なんで起きられないの」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05840" y="3630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「2学期どうするの」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05840" y="42336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「もう○時だよ！」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647688" y="1481328"/>
            <a:ext cx="5266944" cy="3611880"/>
          </a:xfrm>
          <a:prstGeom prst="roundRect">
            <a:avLst>
              <a:gd name="adj" fmla="val 227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13448" y="1755648"/>
            <a:ext cx="457200" cy="45720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F8A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1344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07808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ラクになる声かけ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13448" y="24231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「おにぎりとパン、どっちにする？」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013448" y="302666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「まずカーテンだけ開けよう」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013448" y="3630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「明日は何時に起きてみる？」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013448" y="42336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「起きられたね」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40080" y="528523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28523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違いは「指示」か「選択肢」か。自分で決めたことのほうが、体は動きます。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754880" cy="4754880"/>
          </a:xfrm>
          <a:prstGeom prst="ellipse">
            <a:avLst/>
          </a:prstGeom>
          <a:solidFill>
            <a:srgbClr val="1E3A5F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起きられない、だるい、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イライラへの「食事の見方」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4526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その不調は、性格ではなくサインかもしれません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983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血糖の波・たんぱく質と鉄・水分とミネラル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5440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夏ごはんへの「ちょい足し」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食事の見方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その不調、食事からのサインかもしれません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菓子パンやジュース“だけ”の朝は、いったん上がって急に落ちます。落ちたときに出るのが、だるさ・眠気・イライラ。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だるい・イライラ・急な眠気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B454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たんぱく質と鉄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18304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そうめん中心の夏は、どちらも不足しがち。とくに成長期と、生理のある女の子は減りやすい栄養素です。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立ちくらみ・集中が続かない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F8A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76488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汗で出たまま、麦茶だけで過ごしていませんか。水分だけでは足りず、塩分やミネラルも一緒に必要です。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頭痛・食欲がない・元気が出ない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193792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51560" y="51937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ここでお話しするのは「食事から見てみる」という視点です。症状が続くときや気になるときは、必ず医療機関にご相談ください。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食事の見方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同じ「食べた」でも、午前中の体調は変わります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481328"/>
          <a:ext cx="72237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血糖の動きのイメージ図です（実測値ではありません）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183880" y="1481328"/>
            <a:ext cx="3364992" cy="1965960"/>
          </a:xfrm>
          <a:prstGeom prst="roundRect">
            <a:avLst>
              <a:gd name="adj" fmla="val 418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85632" y="1691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急に上がると、急に落ちる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485632" y="21488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落ちたタイミングで出るのが、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だるさ・眠気・イライラ。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「食べたのに元気がない」の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正体はここにあります。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183880" y="3611880"/>
            <a:ext cx="3364992" cy="2103120"/>
          </a:xfrm>
          <a:prstGeom prst="roundRect">
            <a:avLst>
              <a:gd name="adj" fmla="val 391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85632" y="38221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覚えるのは1つだけ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85632" y="4224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単品にしない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485632" y="475488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パンだけ・麺だけ・果物だけを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やめて、何か1つ足す。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それだけで波はゆるやかに。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食事の見方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夏ごはんあるある × ちょい足し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396209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よくある夏ごはん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起きやすいこと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ちょい足し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そうめん・うどんだけ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たんぱく質が足りず、だるい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ゆで卵・ツナ・豚しゃぶ・納豆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菓子パン・ジュースの朝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血糖の波でイライラ・眠い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牛乳・ヨーグルト・チーズ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冷たいものばかり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胃腸が疲れて食欲が落ちる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温かい汁物を1品だけ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アイス・お菓子が主食化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夕食が入らなくなる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時間を決める（食後・15時まで）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麦茶だけで過ごす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ミネラル不足で頭痛・だるさ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みそ汁・スープ・果物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12064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97280" y="512064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献立を変えなくて大丈夫。いつものメニューに「1つ足す」だけで十分です。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食事の見方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それでも「食べない」ときは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47088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量より、回数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157984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1回で食べきらせなくて大丈夫。朝に一口、登校前に一口、と分けるほうが体に入ります。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62656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328416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3218688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食べやすい形にする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737360" y="3639312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冷たい・のどごしがいい・小さい。ゼリー、スープ、半分のおにぎりなど。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43984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809744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9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4700016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理由をつけて責めない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512064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「食べないと動けないよ」ではなく「これなら食べられそう？」。食卓を戦場にしないことが最優先です。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443984"/>
          </a:xfrm>
          <a:prstGeom prst="roundRect">
            <a:avLst>
              <a:gd name="adj" fmla="val 2922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82880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B454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068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0684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こんなときは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52560" y="329184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体重が減ってきた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水分もとれない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2週間以上つづく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朝の頭痛・腹痛が毎日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迷ったら、かかりつけ医・学校の養護教諭・スクールカウンセラーへ。早いほど選択肢が多くなります。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754880" cy="4754880"/>
          </a:xfrm>
          <a:prstGeom prst="ellipse">
            <a:avLst/>
          </a:prstGeom>
          <a:solidFill>
            <a:srgbClr val="1E3A5F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夏休み後半から整える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「夜ごはんと睡眠」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4526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夕食の時間・中身・遅くなった日の対応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983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寝る前90分のルーティン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5440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夜ふかしの巻き戻し方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夜ごはんと睡眠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夜にできることは、3つだけ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夕食の時間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42032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何時に食べ終わるか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B454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お風呂の時間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18304" y="2542032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何時に湯船から出るか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F8A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光の扱い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76488" y="2542032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照明と画面をどうするか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456432"/>
            <a:ext cx="10911535" cy="1572768"/>
          </a:xfrm>
          <a:prstGeom prst="roundRect">
            <a:avLst>
              <a:gd name="adj" fmla="val 52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51560" y="3913632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391363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834640" y="3913632"/>
            <a:ext cx="301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136392" y="3913632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36392" y="391363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19472" y="3913632"/>
            <a:ext cx="301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221224" y="3913632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21224" y="391363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明かりを落とす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04304" y="3913632"/>
            <a:ext cx="301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06056" y="3913632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06056" y="391363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画面を置く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89136" y="3913632"/>
            <a:ext cx="301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390888" y="3913632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90888" y="391363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就寝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51560" y="3611880"/>
            <a:ext cx="10088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この順番をくり返すと、体が「もう寝る時間だ」と覚えていきます。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5138928"/>
            <a:ext cx="10911535" cy="896112"/>
          </a:xfrm>
          <a:prstGeom prst="roundRect">
            <a:avLst>
              <a:gd name="adj" fmla="val 9184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097280" y="5138928"/>
            <a:ext cx="99971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「寝なさい」と言うより、順番を毎日そろえるほうが効きます。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夜ごはんと睡眠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夕食の3つのポイント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810512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8105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12848" y="16642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寝る3時間前までに食べ終わる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212848" y="210312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難しい日は、夕方に軽く食べておいて、帰宅後は軽めに。2回に分けるほうが体はラクです。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71216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200400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2004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12848" y="30540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主食＋たんぱく質＋野菜を1皿ずつ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212848" y="34930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そろえるだけで十分。夜おそくなった日は、揚げ物と大盛りだけ避けてください。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590288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59028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遅い日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12848" y="4443984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「抜く」より「軽く」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212848" y="48828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おにぎり＋みそ汁、うどん＋卵。それで大丈夫です。抜くと、夜中に空腹で目が覚めます。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夜にたくさん食べた翌朝は、朝ごはんが入りません。朝を守るために、夜を軽くします。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夜ごはんと睡眠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寝る前90分のルーティン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2624328" cy="356616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47088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470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90分前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207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お風呂に入る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20756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湯船に10分。上がった体温が下がるときに、自然と眠くなります。シャワーだけの日は少し早めに。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64408" y="3017520"/>
            <a:ext cx="288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52444" y="1572768"/>
            <a:ext cx="2624328" cy="356616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26764" y="1847088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26764" y="18470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60分前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826764" y="2450592"/>
            <a:ext cx="207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明かりを落とす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26764" y="3246120"/>
            <a:ext cx="20756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天井の照明を消して、手元の明かりだけに。部屋が暗くなると、眠るホルモンが出はじめます。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176772" y="3017520"/>
            <a:ext cx="288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64808" y="1572768"/>
            <a:ext cx="2624328" cy="356616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39128" y="1847088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39128" y="18470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30分前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39128" y="2450592"/>
            <a:ext cx="207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画面を置く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739128" y="3246120"/>
            <a:ext cx="20756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スマホ・タブレット・ゲームはここまで。充電場所を寝室の外に決めておくのがいちばん確実です。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089136" y="3017520"/>
            <a:ext cx="288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377172" y="1572768"/>
            <a:ext cx="2624328" cy="356616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51492" y="1847088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51492" y="18470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51492" y="2450592"/>
            <a:ext cx="207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布団に入る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651492" y="3246120"/>
            <a:ext cx="20756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同じ順番をくり返すことが、いちばんの近道。時間より「順番」を守ってください。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28523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97280" y="528523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全部そろわなくて大丈夫。まずは「お風呂の時間」を毎日そろえるところから。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夜ごはんと睡眠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もう夜ふかしになっている場合の戻し方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657600"/>
          </a:xfrm>
          <a:prstGeom prst="roundRect">
            <a:avLst>
              <a:gd name="adj" fmla="val 225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755648"/>
            <a:ext cx="457200" cy="45720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F8A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45059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起きる時間を、先に15分早める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0723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昼寝は15時まで・20〜30分だけ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6941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夕方に体を動かす（散歩でOK）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43159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朝は明るく、夜は暗く、を分ける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47688" y="1481328"/>
            <a:ext cx="5266944" cy="3657600"/>
          </a:xfrm>
          <a:prstGeom prst="roundRect">
            <a:avLst>
              <a:gd name="adj" fmla="val 2250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13448" y="1755648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B454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1344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07808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やりがちなNG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13448" y="245059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消灯だけ早くする（眠れず不安になる）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13448" y="30723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昼寝を夕方までさせる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13448" y="36941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夕方以降のカフェイン・エナジードリンク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13448" y="43159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寝坊した日だけ叱る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321808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21808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眠くなる時間は、前の晩ではなく「その日の朝」に決まっています。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754880" cy="4754880"/>
          </a:xfrm>
          <a:prstGeom prst="ellipse">
            <a:avLst/>
          </a:prstGeom>
          <a:solidFill>
            <a:srgbClr val="1E3A5F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学校再開前に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慌てないための準備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4526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1週間前・3日前・前日・当日の逆算リスト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983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「行きたくない」と言われたときの備え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再開前の準備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逆算カレンダー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77824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起床時刻をほぼ通常に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宿題の残りを数える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夕食を30分早める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土日も同じ時間で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52444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08476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08476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90188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提出物・持ち物の確認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上履き・体操服の確認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通学路を1度歩く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髪と爪を切る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64808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720840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02552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夕食とお風呂を早めに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支度を玄関に置く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期待を言いすぎない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早めに部屋を暗く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77172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33204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33204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14916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10分早く起こす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食べやすい朝ごはん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送り出しは短く明るく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予定を詰め込まない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4924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全部やらなくて大丈夫。各列から1つずつ選ぶくらいで十分です。</a:t>
            </a:r>
            <a:endParaRPr lang="en-US" sz="1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再開前の準備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「行きたくない」と言われたときのために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65506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65506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27632" y="157276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理由を問い詰めない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27632" y="193852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言葉にできないことのほうが多いです。「そっか」と、いったん受けとめるだけで十分。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266090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66090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27632" y="257860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体の痛みは、本物として扱う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27632" y="294436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頭痛や腹痛は「ウソ」ではありません。まず体調として受けとめてください。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49300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66674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66674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27632" y="358444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ハードルを段階に分ける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27632" y="395020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「行く／行かない」ではなく、起きる → 着替える → 玄関まで → 校門まで、と分けます。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49884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688" y="467258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67258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27632" y="459028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早めに相談する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627632" y="495604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担任、養護教諭、スクールカウンセラー、かかりつけ医。抱え込まないでください。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006840" y="1481328"/>
            <a:ext cx="2542032" cy="4023360"/>
          </a:xfrm>
          <a:prstGeom prst="roundRect">
            <a:avLst>
              <a:gd name="adj" fmla="val 323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281160" y="18288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先に不安に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ならない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281160" y="320040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子どもは、親の表情を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よく見ています。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「なんとかなる」と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思っている大人が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そばにいることが、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いちばんの準備です。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754880" cy="4754880"/>
          </a:xfrm>
          <a:prstGeom prst="ellipse">
            <a:avLst/>
          </a:prstGeom>
          <a:solidFill>
            <a:srgbClr val="1E3A5F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「2学期スタート作戦」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4526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決めるのは3つだけ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983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書き込みながら進めます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5440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続けるためのコツ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ワーク：3つだけ決めましょう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5564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27632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家族で1つに。土日もそろえられると、いちばんラクになります。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 時 ＿＿ 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55648"/>
            <a:ext cx="548640" cy="5486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F8A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85816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朝ごはんの定番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18304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3つ決めて、まわします。考えなくていい状態にするのが目的です。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＿＿＿＿＿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55648"/>
            <a:ext cx="548640" cy="5486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0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夜のスイッチ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76488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お風呂の時間／照明を落とす時間／スマホの置き場から、1つだけ。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＿＿＿＿＿＿＿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97280" y="544068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決めるのは3つだけ。多いほど、続きません。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続けるための4つのコツ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84708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47088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47088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今日決めた3つ以外は、9月に入ってから。増やすのはいつでもできます。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81928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84708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F8A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88936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3日できたら合格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88936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7日連続を目標にすると、4日目に折れます。3日単位で数えてください。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381304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47088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例外日を決めておく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47088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花火、帰省、お泊まり。「この日は崩れる」と決めておけば、翌日に戻れます。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81928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381304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F8A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88936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子どもに選ばせる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88936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選択肢は親が2つ出す。決めるのは本人。決めた人が、いちばん動きます。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557784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うまくいかない日があって当たり前です。戻れることのほうが、ずっと大事。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今日の3つの持ち帰り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196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178308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夜より先に、朝を動かす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011680" y="22219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眠くなる時間は、その日の朝に決まります。起床を15分ずつ前へ。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1810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011680" y="308152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食事は「単品にしない」だけで変わる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011680" y="35204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パンだけ・麺だけをやめて、1つ足す。それで午前中がもちます。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197096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1655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011680" y="4379976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決めるのは3つ。完璧より、わが家の型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011680" y="481888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起きる時間・朝ごはんの定番・夜のスイッチ。まずはこの3つだけ。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2学期の朝が、少しだけラクになりますように。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73736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88036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ご質問をどうぞ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37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チャットでも、お声でも大丈夫です。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「うちの場合はどうしたら」が、いちばん役に立ちます。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6766560" cy="100584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4348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今日決めた3つを、明日の朝から。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まずは「起きる時間」ひとつで大丈夫です。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623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ご参加ありがとうございました。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夏休みの終わり 〜食と生活リズムの整え方〜 第2回</dc:title>
  <dc:subject>PptxGenJS Presentation</dc:subject>
  <dc:creator>第2回 夏休みの終わり</dc:creator>
  <cp:lastModifiedBy>第2回 夏休みの終わり</cp:lastModifiedBy>
  <cp:revision>1</cp:revision>
  <dcterms:created xsi:type="dcterms:W3CDTF">2026-08-07T14:50:31Z</dcterms:created>
  <dcterms:modified xsi:type="dcterms:W3CDTF">2026-08-07T14:50:31Z</dcterms:modified>
</cp:coreProperties>
</file>